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Roboto Medium"/>
      <p:regular r:id="rId23"/>
      <p:bold r:id="rId24"/>
      <p:italic r:id="rId25"/>
      <p:boldItalic r:id="rId26"/>
    </p:embeddedFont>
    <p:embeddedFont>
      <p:font typeface="Roboto Ligh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RobotoMedium-bold.fntdata"/><Relationship Id="rId23" Type="http://schemas.openxmlformats.org/officeDocument/2006/relationships/font" Target="fonts/Roboto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edium-boldItalic.fntdata"/><Relationship Id="rId25" Type="http://schemas.openxmlformats.org/officeDocument/2006/relationships/font" Target="fonts/RobotoMedium-italic.fntdata"/><Relationship Id="rId28" Type="http://schemas.openxmlformats.org/officeDocument/2006/relationships/font" Target="fonts/RobotoLight-bold.fntdata"/><Relationship Id="rId27" Type="http://schemas.openxmlformats.org/officeDocument/2006/relationships/font" Target="fonts/RobotoLigh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Ligh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obotoLigh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9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20.png"/><Relationship Id="rId8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6.png"/><Relationship Id="rId6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22.png"/><Relationship Id="rId6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1292572"/>
            <a:ext cx="6096000" cy="42727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6858000" y="2054572"/>
            <a:ext cx="4800600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Q4 RESULTS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 OUTLOOK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858000" y="4109888"/>
            <a:ext cx="4572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Roboto Light"/>
                <a:ea typeface="Roboto Light"/>
                <a:cs typeface="Roboto Light"/>
                <a:sym typeface="Roboto Light"/>
              </a:rPr>
              <a:t>GROWTH STRATEGIES 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3250644" y="2105173"/>
            <a:ext cx="5690711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Executive Summary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619750" y="3312914"/>
            <a:ext cx="952500" cy="571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286000" y="3655814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 strong finish to the fiscal year driven by core product resilience and strategic efficiency measures, setting a robust foundation for our aggressive 2024 expansion plan.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30723"/>
            <a:ext cx="3429000" cy="2038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930723"/>
            <a:ext cx="3429000" cy="2038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2930723"/>
            <a:ext cx="3429000" cy="20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571500" y="571500"/>
            <a:ext cx="11601450" cy="51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Key Financial Metrics Q4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571500" y="1194345"/>
            <a:ext cx="11049000" cy="381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962025" y="3321248"/>
            <a:ext cx="264795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15%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219200" y="4311848"/>
            <a:ext cx="2133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rPr>
              <a:t>Revenue Growth YoY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4772025" y="3321248"/>
            <a:ext cx="264795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22%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314950" y="4311848"/>
            <a:ext cx="1562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rPr>
              <a:t>EBITDA Margin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582025" y="3321248"/>
            <a:ext cx="264795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$4.2M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310687" y="4311848"/>
            <a:ext cx="1190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rPr>
              <a:t>Net Income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13445"/>
            <a:ext cx="11049000" cy="467305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71500" y="571500"/>
            <a:ext cx="11601450" cy="51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Revenue vs. Competitors (Q4)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571500" y="1194345"/>
            <a:ext cx="11049000" cy="381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5727352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We maintained a leading market position despite aggressive pricing from Competitor 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34592"/>
            <a:ext cx="5286375" cy="20306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934592"/>
            <a:ext cx="5286375" cy="203061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571500" y="571500"/>
            <a:ext cx="11601450" cy="51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Operational Highlights</a:t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571500" y="1194345"/>
            <a:ext cx="11049000" cy="381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66775" y="3229867"/>
            <a:ext cx="4930616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Supply Chain Optimization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866775" y="3675608"/>
            <a:ext cx="46958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Successfully negotiated new logistics contracts, reducing average shipping costs by 10% while improving delivery times by 15% across North America.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6629400" y="3229867"/>
            <a:ext cx="4930616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Product Gen 2 Launch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629400" y="3675608"/>
            <a:ext cx="46958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The rollout of our second-generation flagship product exceeded initial sales targets by 20% in the first month, validating our R&amp;D investment.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2680573" y="2318444"/>
            <a:ext cx="6830853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2024 Growth Strategies</a:t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5619750" y="3526184"/>
            <a:ext cx="952500" cy="571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2762250" y="3869084"/>
            <a:ext cx="6667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Moving forward, our focus shifts to three core pillars designed to scale operations and capture emerging market opportunities.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88555"/>
            <a:ext cx="3492549" cy="29226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88555"/>
            <a:ext cx="3492549" cy="29226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88555"/>
            <a:ext cx="3492549" cy="292268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>
            <a:off x="571500" y="571500"/>
            <a:ext cx="11601450" cy="51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Strategic Pillars for 2024</a:t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571500" y="1194345"/>
            <a:ext cx="11049000" cy="381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3" name="Google Shape;15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36700" y="278383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794225" y="3736330"/>
            <a:ext cx="3047099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Innovation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866775" y="4121646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Doubling down on R&amp;D to integrate AI-driven features into our core product suite.</a:t>
            </a:r>
            <a:endParaRPr/>
          </a:p>
        </p:txBody>
      </p:sp>
      <p:pic>
        <p:nvPicPr>
          <p:cNvPr descr="image.png" id="156" name="Google Shape;15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78383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4572524" y="3736330"/>
            <a:ext cx="3047099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Expansion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4645074" y="4121646"/>
            <a:ext cx="290199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Entering two new APAC markets in Q3 to diversify our revenue stream.</a:t>
            </a:r>
            <a:endParaRPr/>
          </a:p>
        </p:txBody>
      </p:sp>
      <p:pic>
        <p:nvPicPr>
          <p:cNvPr descr="image.png" id="159" name="Google Shape;159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93299" y="278383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8350824" y="3736330"/>
            <a:ext cx="3047099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Efficiency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8423374" y="4121646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Automating backend workflows to improve operational margins by an estimated 5%.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762000" y="1632644"/>
            <a:ext cx="4800600" cy="51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Digital Transformation</a:t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762000" y="2255490"/>
            <a:ext cx="4572000" cy="381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762000" y="2655540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We are investing heavily in a cloud-first infrastructure.</a:t>
            </a:r>
            <a:endParaRPr/>
          </a:p>
        </p:txBody>
      </p:sp>
      <p:pic>
        <p:nvPicPr>
          <p:cNvPr descr="image.png" id="170" name="Google Shape;17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1047750" y="3272730"/>
            <a:ext cx="4286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Migration of 90% of data to secure cloud servers by Q2.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1047750" y="3689895"/>
            <a:ext cx="4286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Implementation of real-time analytics dashboards for all department heads.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1047750" y="4381351"/>
            <a:ext cx="4286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Adoption of AI customer support tools to reduce response time.</a:t>
            </a:r>
            <a:endParaRPr/>
          </a:p>
        </p:txBody>
      </p:sp>
      <p:pic>
        <p:nvPicPr>
          <p:cNvPr descr="image.png" id="174" name="Google Shape;17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30130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71847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409926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13445"/>
            <a:ext cx="11049000" cy="467305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/>
        </p:nvSpPr>
        <p:spPr>
          <a:xfrm>
            <a:off x="571500" y="571500"/>
            <a:ext cx="11601450" cy="51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Market Share Trends (Last 4 Quarters)</a:t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571500" y="1194345"/>
            <a:ext cx="11049000" cy="381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571500" y="5679727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Consistent growth in market share, reaching 23% by year-end.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1400" y="2044898"/>
            <a:ext cx="42291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 txBox="1"/>
          <p:nvPr/>
        </p:nvSpPr>
        <p:spPr>
          <a:xfrm>
            <a:off x="571500" y="571500"/>
            <a:ext cx="11601450" cy="51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Talent &amp; Culture</a:t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571500" y="1194345"/>
            <a:ext cx="11049000" cy="381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4" name="Google Shape;19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91400" y="2044898"/>
            <a:ext cx="42291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/>
        </p:nvSpPr>
        <p:spPr>
          <a:xfrm>
            <a:off x="857250" y="2984152"/>
            <a:ext cx="60579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Upskilling Initiative: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Launching a company-wide certification program for data literacy.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857250" y="3675608"/>
            <a:ext cx="60579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Diversity &amp; Inclusion: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New hiring protocols implemented to ensure diverse candidate pools for all senior roles.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857250" y="4367063"/>
            <a:ext cx="60579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Retention Focus: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Enhanced benefits package to be rolled out in Q1 to improve employee satisfaction and retention.</a:t>
            </a:r>
            <a:endParaRPr/>
          </a:p>
        </p:txBody>
      </p:sp>
      <p:pic>
        <p:nvPicPr>
          <p:cNvPr descr="image.png" id="198" name="Google Shape;19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1272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0418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95638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08002"/>
            <a:ext cx="2209800" cy="1664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17850" y="3308002"/>
            <a:ext cx="2209800" cy="1664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64200" y="3308002"/>
            <a:ext cx="2209800" cy="1664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10551" y="3308002"/>
            <a:ext cx="2209800" cy="166479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 txBox="1"/>
          <p:nvPr/>
        </p:nvSpPr>
        <p:spPr>
          <a:xfrm>
            <a:off x="571500" y="571500"/>
            <a:ext cx="11601450" cy="51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2024 Execution Roadmap</a:t>
            </a:r>
            <a:endParaRPr/>
          </a:p>
        </p:txBody>
      </p:sp>
      <p:sp>
        <p:nvSpPr>
          <p:cNvPr id="211" name="Google Shape;211;p23"/>
          <p:cNvSpPr/>
          <p:nvPr/>
        </p:nvSpPr>
        <p:spPr>
          <a:xfrm>
            <a:off x="571500" y="1194345"/>
            <a:ext cx="11049000" cy="381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571500" y="4121348"/>
            <a:ext cx="11049000" cy="381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726281" y="3508027"/>
            <a:ext cx="19002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Q1: Planning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771525" y="3889027"/>
            <a:ext cx="18097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Finalize APAC entry strategy and launch internal upskilling.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3672631" y="3508027"/>
            <a:ext cx="19002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Q2: Launch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3717875" y="3889027"/>
            <a:ext cx="18097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Deploy cloud infrastructure and beta test AI features.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6618982" y="3508027"/>
            <a:ext cx="19002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Q3: Expansion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6664225" y="3889027"/>
            <a:ext cx="18097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Official market entry into Singapore and Australia.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9565332" y="3508027"/>
            <a:ext cx="19002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Q4: Review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9610576" y="3889027"/>
            <a:ext cx="18097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Assess market penetration and optimize operational workflows.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4"/>
          <p:cNvSpPr txBox="1"/>
          <p:nvPr/>
        </p:nvSpPr>
        <p:spPr>
          <a:xfrm>
            <a:off x="5085873" y="2069752"/>
            <a:ext cx="202025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Q&amp;A</a:t>
            </a:r>
            <a:endParaRPr/>
          </a:p>
        </p:txBody>
      </p:sp>
      <p:sp>
        <p:nvSpPr>
          <p:cNvPr id="227" name="Google Shape;227;p24"/>
          <p:cNvSpPr txBox="1"/>
          <p:nvPr/>
        </p:nvSpPr>
        <p:spPr>
          <a:xfrm>
            <a:off x="4643437" y="3631852"/>
            <a:ext cx="29051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Thank you for your attention.</a:t>
            </a:r>
            <a:endParaRPr/>
          </a:p>
        </p:txBody>
      </p:sp>
      <p:sp>
        <p:nvSpPr>
          <p:cNvPr id="228" name="Google Shape;228;p24"/>
          <p:cNvSpPr txBox="1"/>
          <p:nvPr/>
        </p:nvSpPr>
        <p:spPr>
          <a:xfrm>
            <a:off x="4838700" y="4607123"/>
            <a:ext cx="2514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investor.relations@company.com</a:t>
            </a:r>
            <a:endParaRPr/>
          </a:p>
        </p:txBody>
      </p:sp>
      <p:pic>
        <p:nvPicPr>
          <p:cNvPr descr="image.png" id="229" name="Google Shape;22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8700" y="4616648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 txBox="1"/>
          <p:nvPr/>
        </p:nvSpPr>
        <p:spPr>
          <a:xfrm>
            <a:off x="571500" y="571500"/>
            <a:ext cx="11601450" cy="51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Image Sources</a:t>
            </a:r>
            <a:endParaRPr/>
          </a:p>
        </p:txBody>
      </p:sp>
      <p:sp>
        <p:nvSpPr>
          <p:cNvPr id="236" name="Google Shape;236;p25"/>
          <p:cNvSpPr/>
          <p:nvPr/>
        </p:nvSpPr>
        <p:spPr>
          <a:xfrm>
            <a:off x="571500" y="1194345"/>
            <a:ext cx="11049000" cy="381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571500" y="2579489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/>
          <p:nvPr/>
        </p:nvSpPr>
        <p:spPr>
          <a:xfrm>
            <a:off x="571500" y="356235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571500" y="3552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571500" y="3552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571500" y="433759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571500" y="433759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3" name="Google Shape;24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2803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5"/>
          <p:cNvSpPr txBox="1"/>
          <p:nvPr/>
        </p:nvSpPr>
        <p:spPr>
          <a:xfrm>
            <a:off x="1666875" y="2722364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https://plus.unsplash.com/premium_photo-1663011492084-4fe26a56d49f?fm=jpg&amp;q=60&amp;w=3000&amp;ixlib=rb-4.1.0&amp;ixid=M3wxMjA3fDB8MHxwaG90by1yZWxhdGVkfDE0fHx8ZW58MHx8fHx8</a:t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1666875" y="316616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unsplash.com</a:t>
            </a:r>
            <a:endParaRPr/>
          </a:p>
        </p:txBody>
      </p:sp>
      <p:pic>
        <p:nvPicPr>
          <p:cNvPr descr="image.png" id="246" name="Google Shape;24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1177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5"/>
          <p:cNvSpPr txBox="1"/>
          <p:nvPr/>
        </p:nvSpPr>
        <p:spPr>
          <a:xfrm>
            <a:off x="1666875" y="370522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https://images.stockcake.com/public/4/a/9/4a9806a0-7586-4fde-bf67-209a190f2140_large/analytics-dashboard-display-stockcake.jpg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1666875" y="395094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stockcake.com</a:t>
            </a:r>
            <a:endParaRPr/>
          </a:p>
        </p:txBody>
      </p:sp>
      <p:pic>
        <p:nvPicPr>
          <p:cNvPr descr="image.png" id="249" name="Google Shape;24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9566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5"/>
          <p:cNvSpPr txBox="1"/>
          <p:nvPr/>
        </p:nvSpPr>
        <p:spPr>
          <a:xfrm>
            <a:off x="1666875" y="4489995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https://static.vecteezy.com/system/resources/previews/067/458/039/large_2x/a-diverse-team-collaborates-in-a-modern-office-setting-during-a-business-meeting-they-are-discussing-a-plan-photo.jpg</a:t>
            </a: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1666875" y="493380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www.vecteezy.com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