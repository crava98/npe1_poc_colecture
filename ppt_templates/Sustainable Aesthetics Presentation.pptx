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Cormorant Garamon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morantGaramond-bold.fntdata"/><Relationship Id="rId22" Type="http://schemas.openxmlformats.org/officeDocument/2006/relationships/font" Target="fonts/CormorantGaramond-boldItalic.fntdata"/><Relationship Id="rId21" Type="http://schemas.openxmlformats.org/officeDocument/2006/relationships/font" Target="fonts/CormorantGaramon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Light-bold.fntdata"/><Relationship Id="rId27" Type="http://schemas.openxmlformats.org/officeDocument/2006/relationships/font" Target="fonts/Montserrat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ontserrat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CormorantGaramon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2" Type="http://schemas.openxmlformats.org/officeDocument/2006/relationships/image" Target="../media/image13.png"/><Relationship Id="rId9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35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9.png"/><Relationship Id="rId7" Type="http://schemas.openxmlformats.org/officeDocument/2006/relationships/image" Target="../media/image36.png"/><Relationship Id="rId8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5" Type="http://schemas.openxmlformats.org/officeDocument/2006/relationships/image" Target="../media/image34.png"/><Relationship Id="rId6" Type="http://schemas.openxmlformats.org/officeDocument/2006/relationships/image" Target="../media/image27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681037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45606" y="4334767"/>
            <a:ext cx="630078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0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Sustainable Aesthetics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638675" y="5582542"/>
            <a:ext cx="29146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A9A5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CONCEPT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56532"/>
            <a:ext cx="4677667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132582" y="3232100"/>
            <a:ext cx="467766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Sustainable Aesthetics is not merely a design trend; it is a philosophy that harmonizes ethical production with visual purity. It seeks to prove that luxury and responsibility are not mutually exclusive.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32582" y="4359622"/>
            <a:ext cx="467766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At its core, it embraces the "Fine Line" approach—delicate, intentional, and stripped of excess—mirroring the fragility and resilience of our natural world.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2361307"/>
            <a:ext cx="4468117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621506" y="960387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Defining the Concept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2786955" y="1655712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683990" y="2388840"/>
            <a:ext cx="8823870" cy="168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556B2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"The details are not the details. They make the design. In sustainability, the details are the materials, the process, and the lifespan." 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4259460"/>
            <a:ext cx="11029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CHARLES EAMES (ADAPTED)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2301"/>
            <a:ext cx="3486150" cy="3878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22301"/>
            <a:ext cx="3486150" cy="3878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22301"/>
            <a:ext cx="3486150" cy="3878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517576"/>
            <a:ext cx="2895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517576"/>
            <a:ext cx="2895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517576"/>
            <a:ext cx="28956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03910" y="4689276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Raw Linen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76300" y="5165526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Unbleached, breathable, and fully biodegradable. A staple of slow living.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575810" y="4689276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Dried Flora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48200" y="5165526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Celebrating the beauty of decay and longevity over fresh cut waste.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347710" y="4689276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Recycled Clay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20100" y="5165526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Earth-toned ceramics that ground a space in history and texture.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2517576"/>
            <a:ext cx="2895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8200" y="2517576"/>
            <a:ext cx="2895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20100" y="2517576"/>
            <a:ext cx="28956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621506" y="960387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Nature's Palette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2786955" y="1655712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581025" y="866030"/>
            <a:ext cx="3114295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Architectural Arch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3104405"/>
            <a:ext cx="49434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arch represents the perfect marriage of structural integrity and organic softness. In sustainable design, it minimizes material usage while maximizing load-bearing capacity.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19150" y="4311997"/>
            <a:ext cx="47053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"/>
                <a:ea typeface="Montserrat"/>
                <a:cs typeface="Montserrat"/>
                <a:sym typeface="Montserrat"/>
              </a:rPr>
              <a:t>Soft transitions:</a:t>
            </a: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Moving away from rigid, industrial corners.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19150" y="4746277"/>
            <a:ext cx="47053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"/>
                <a:ea typeface="Montserrat"/>
                <a:cs typeface="Montserrat"/>
                <a:sym typeface="Montserrat"/>
              </a:rPr>
              <a:t>Flow:</a:t>
            </a: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Creating spaces that breathe and connect.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19150" y="5180558"/>
            <a:ext cx="4705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"/>
                <a:ea typeface="Montserrat"/>
                <a:cs typeface="Montserrat"/>
                <a:sym typeface="Montserrat"/>
              </a:rPr>
              <a:t>Timelessness:</a:t>
            </a: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 form that has endured for millennia, defying trends.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6416" y="225653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1191" y="2361307"/>
            <a:ext cx="3600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6381750" y="2841575"/>
            <a:ext cx="491155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Why Thin Lines?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381750" y="3229421"/>
            <a:ext cx="467766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Thick, bold lines often denote permanence and industrial weight. Fine lines, however, suggest: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619875" y="3869382"/>
            <a:ext cx="443954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"/>
                <a:ea typeface="Montserrat"/>
                <a:cs typeface="Montserrat"/>
                <a:sym typeface="Montserrat"/>
              </a:rPr>
              <a:t>Transparency:</a:t>
            </a: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Nothing is hidden; the structure is laid bare.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619875" y="4303662"/>
            <a:ext cx="443954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"/>
                <a:ea typeface="Montserrat"/>
                <a:cs typeface="Montserrat"/>
                <a:sym typeface="Montserrat"/>
              </a:rPr>
              <a:t>Lightness:</a:t>
            </a: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 reduced visual footprint mimicking a reduced carbon footprint.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619875" y="4981723"/>
            <a:ext cx="4439542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"/>
                <a:ea typeface="Montserrat"/>
                <a:cs typeface="Montserrat"/>
                <a:sym typeface="Montserrat"/>
              </a:rPr>
              <a:t>Elegance:</a:t>
            </a: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High-end aesthetics often rely on the subtlety of the stroke.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2621506" y="960387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"Fine Line" Technique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2786955" y="1655712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52886"/>
            <a:ext cx="3486150" cy="2617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52886"/>
            <a:ext cx="3486150" cy="2617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852886"/>
            <a:ext cx="3486150" cy="261729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803910" y="381491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Sand Beige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76300" y="429116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Grounding, neutral, and warm. Evokes sand, stone, and unbleached paper.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4575810" y="381491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Sage Green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648200" y="4291161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Restorative, balanced, and natural. The bridge between the indoors and outdoors.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347710" y="381491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Deep Olive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420100" y="429116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Depth, heritage, and focus. Provides the necessary contrast for readability.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2650" y="316721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316721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6450" y="316721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2621506" y="960387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Calm &amp; Restoration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2786955" y="1655712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6237"/>
            <a:ext cx="11029950" cy="423073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2621506" y="960387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Environmental Footprint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2786955" y="1655712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52886"/>
            <a:ext cx="3486150" cy="2617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52886"/>
            <a:ext cx="3486150" cy="2617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852886"/>
            <a:ext cx="3486150" cy="2617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803910" y="381491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Bio-Materials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876300" y="4291161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Furniture grown from mycelium (mushrooms) and algae-based bioplastics.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575810" y="381491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Circularity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48200" y="4291161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Design for disassembly. Every component can be returned to the earth or the factory.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347710" y="3814911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Slow Manufacturing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420100" y="4291161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return to artisanal, made-to-order production models to eliminate excess inventory.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2650" y="316721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316721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2637" y="3167211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2621506" y="960387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Future: Regenerative Design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2786955" y="1655712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70907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970907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970907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3075682"/>
            <a:ext cx="32766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7700" y="3075682"/>
            <a:ext cx="32766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9600" y="3075682"/>
            <a:ext cx="32766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2621506" y="960387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Moodboard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2786955" y="1655712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3035617" y="2759422"/>
            <a:ext cx="612076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0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Living with Intention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3238500" y="3969097"/>
            <a:ext cx="5715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Sustainable aesthetics invites us to pause, reflect, and choose well. It creates spaces that not only look beautiful but feel right.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4720828" y="2750343"/>
            <a:ext cx="275034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Questions?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5857875" y="3864768"/>
            <a:ext cx="47625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5191125" y="4217193"/>
            <a:ext cx="1809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581025" y="151492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81025" y="229969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81025" y="308446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81025" y="4067323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81025" y="505018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81025" y="229016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81025" y="229016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81025" y="307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81025" y="307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81025" y="405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81025" y="405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81025" y="50406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81025" y="50406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81025" y="60235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81025" y="60235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643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1676400" y="165779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https://nordicwallart.com/cdn/shop/files/S475399af4eb843d7952e68cfe295a3fcY.webp?v=1716235024&amp;width=1920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676400" y="190351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nordicwallart.com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4491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76400" y="244256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https://img.freepik.com/free-vector/hand-drawn-one-line-art-plant-illustration_23-2149257880.jpg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76400" y="268828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www.freepik.com</a:t>
            </a:r>
            <a:endParaRPr/>
          </a:p>
        </p:txBody>
      </p:sp>
      <p:pic>
        <p:nvPicPr>
          <p:cNvPr descr="image.png" id="252" name="Google Shape;25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330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76400" y="322733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https://static.vecteezy.com/system/resources/previews/046/838/288/large_2x/natural-beige-textured-raw-linen-fabric-close-up-for-design-craft-home-decoration-or-fashion-projects-photo.jpg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676400" y="367114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www.vecteezy.com</a:t>
            </a:r>
            <a:endParaRPr/>
          </a:p>
        </p:txBody>
      </p:sp>
      <p:pic>
        <p:nvPicPr>
          <p:cNvPr descr="image.png" id="255" name="Google Shape;25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158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676400" y="421019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https://static.vecteezy.com/system/resources/previews/054/963/465/non_2x/ceramic-vases-in-white-and-beige-showcase-dried-pampas-grass-and-neutral-toned-flowers-the-composition-emphasizes-a-modern-organic-aesthetic-on-a-minimal-backdrop-photo.jpg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676400" y="465400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www.vecteezy.com</a:t>
            </a:r>
            <a:endParaRPr/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2987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676400" y="519305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https://images.ctfassets.net/x715brg11yrw/4LXBhhvA0Tf9S9B2nZhunY/a5ad506e93656890bbbcaa018bf44c9b/Cream_living_room_with_sage_green_feature_wall.jpg?w=1800&amp;fm=webp&amp;q=80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676400" y="563686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www.furniturechoice.co.uk</a:t>
            </a:r>
            <a:endParaRPr/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61824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676400" y="617592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https://www.lizsteel.com/wp-content/uploads/2024/06/LizSteel-184-StGeorgesfrontdoor2.jpg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676400" y="642163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B2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www.lizsteel.com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2621506" y="429071"/>
            <a:ext cx="694883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8A9A5B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Image Sources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2786955" y="1124396"/>
            <a:ext cx="6617940" cy="9525"/>
          </a:xfrm>
          <a:prstGeom prst="rect">
            <a:avLst/>
          </a:prstGeom>
          <a:solidFill>
            <a:srgbClr val="8A9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