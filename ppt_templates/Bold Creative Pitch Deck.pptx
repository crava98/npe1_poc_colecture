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Montserrat Black"/>
      <p:bold r:id="rId24"/>
      <p:boldItalic r:id="rId25"/>
    </p:embeddedFont>
    <p:embeddedFont>
      <p:font typeface="Archivo Black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MontserratBlack-bold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chivoBlack-regular.fntdata"/><Relationship Id="rId25" Type="http://schemas.openxmlformats.org/officeDocument/2006/relationships/font" Target="fonts/MontserratBlac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Relationship Id="rId7" Type="http://schemas.openxmlformats.org/officeDocument/2006/relationships/image" Target="../media/image38.png"/><Relationship Id="rId8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76200"/>
            <a:ext cx="6019800" cy="670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82102" y="1088189"/>
            <a:ext cx="7460353" cy="468162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477000" y="1458217"/>
            <a:ext cx="5715000" cy="282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BIG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25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 IMPACT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25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 IDEA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6467947" y="4379435"/>
            <a:ext cx="5656905" cy="81360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658447" y="4474685"/>
            <a:ext cx="5275905" cy="623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Make Some Noise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90737"/>
            <a:ext cx="51625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647700" y="3018532"/>
            <a:ext cx="51625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Everyone is shouting.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47700" y="3750022"/>
            <a:ext cx="51625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rPr>
              <a:t>No one is listening.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47700" y="4481512"/>
            <a:ext cx="51625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In a saturated market, average doesn't just fail—it becomes invisible. The confusion is real.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2128837"/>
            <a:ext cx="50863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47700" y="647700"/>
            <a:ext cx="1144143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NOISE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647700" y="1495425"/>
            <a:ext cx="952500" cy="142875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2190750"/>
            <a:ext cx="10896600" cy="2476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1015365" y="2800350"/>
            <a:ext cx="1016127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CUT THROUGH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257300" y="3508920"/>
            <a:ext cx="9677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"We need clarity, not volume. A simple message travels further than a loud one."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2668041"/>
            <a:ext cx="3441650" cy="2655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5100" y="2668041"/>
            <a:ext cx="3441650" cy="2655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2500" y="2668041"/>
            <a:ext cx="3441650" cy="2655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2700" y="2991891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901701" y="3753891"/>
            <a:ext cx="2933647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SIMPLIFY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971550" y="4203352"/>
            <a:ext cx="27939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Cut the fat. Keep the muscle.</a:t>
            </a:r>
            <a:endParaRPr/>
          </a:p>
        </p:txBody>
      </p:sp>
      <p:pic>
        <p:nvPicPr>
          <p:cNvPr descr="image.png" id="117" name="Google Shape;11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101" y="2991891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4629101" y="3753891"/>
            <a:ext cx="2933647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AMPLIFY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698950" y="4203352"/>
            <a:ext cx="27939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Turn up the volume on what matters.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0839" y="2991891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356502" y="3753891"/>
            <a:ext cx="2933647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ELECTRIFY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426350" y="4203352"/>
            <a:ext cx="27939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Shock the system with bold visuals.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47700" y="647700"/>
            <a:ext cx="1144143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APPROACH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647700" y="1495425"/>
            <a:ext cx="952500" cy="142875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8025" y="2090588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647700" y="1949648"/>
            <a:ext cx="5420677" cy="160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MODERN CREATOR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47700" y="2319635"/>
            <a:ext cx="51625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They are visually literate, attention-span challenged, and crave authenticity.</a:t>
            </a:r>
            <a:endParaRPr/>
          </a:p>
        </p:txBody>
      </p:sp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5175" y="2147738"/>
            <a:ext cx="3695700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647700" y="3115865"/>
            <a:ext cx="5162550" cy="784770"/>
          </a:xfrm>
          <a:prstGeom prst="roundRect">
            <a:avLst>
              <a:gd fmla="val 18205" name="adj"/>
            </a:avLst>
          </a:prstGeom>
          <a:solidFill>
            <a:srgbClr val="FFFFFF"/>
          </a:solidFill>
          <a:ln cap="flat" cmpd="sng" w="28575">
            <a:solidFill>
              <a:srgbClr val="2E2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1390650" y="3306365"/>
            <a:ext cx="4133850" cy="403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Digital Native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647700" y="4091136"/>
            <a:ext cx="5162550" cy="784770"/>
          </a:xfrm>
          <a:prstGeom prst="roundRect">
            <a:avLst>
              <a:gd fmla="val 18205" name="adj"/>
            </a:avLst>
          </a:prstGeom>
          <a:solidFill>
            <a:srgbClr val="FFFFFF"/>
          </a:solidFill>
          <a:ln cap="flat" cmpd="sng" w="28575">
            <a:solidFill>
              <a:srgbClr val="2E2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1390650" y="4281636"/>
            <a:ext cx="4133850" cy="403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Trend Setter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47700" y="5066407"/>
            <a:ext cx="5162550" cy="784770"/>
          </a:xfrm>
          <a:prstGeom prst="roundRect">
            <a:avLst>
              <a:gd fmla="val 18205" name="adj"/>
            </a:avLst>
          </a:prstGeom>
          <a:solidFill>
            <a:srgbClr val="FFFFFF"/>
          </a:solidFill>
          <a:ln cap="flat" cmpd="sng" w="28575">
            <a:solidFill>
              <a:srgbClr val="2E2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390650" y="5256907"/>
            <a:ext cx="4133850" cy="403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Value Driven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647700" y="3872061"/>
            <a:ext cx="5162550" cy="285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647700" y="4847332"/>
            <a:ext cx="5162550" cy="285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647700" y="5822602"/>
            <a:ext cx="5162550" cy="285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346251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4321522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5296792"/>
            <a:ext cx="2667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647700" y="647700"/>
            <a:ext cx="1144143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WHO IS IT FOR?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647700" y="1495425"/>
            <a:ext cx="952500" cy="142875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/>
          <p:nvPr/>
        </p:nvSpPr>
        <p:spPr>
          <a:xfrm>
            <a:off x="647700" y="2532757"/>
            <a:ext cx="10896600" cy="784770"/>
          </a:xfrm>
          <a:prstGeom prst="roundRect">
            <a:avLst>
              <a:gd fmla="val 18205" name="adj"/>
            </a:avLst>
          </a:prstGeom>
          <a:solidFill>
            <a:srgbClr val="FFFFFF"/>
          </a:solidFill>
          <a:ln cap="flat" cmpd="sng" w="28575">
            <a:solidFill>
              <a:srgbClr val="2E2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1466850" y="2723257"/>
            <a:ext cx="9791700" cy="403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55555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High Contrast:</a:t>
            </a:r>
            <a:r>
              <a:rPr b="1" i="0" lang="en-US" sz="19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Visuals that stop the scroll immediately.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647700" y="3508027"/>
            <a:ext cx="10896600" cy="784770"/>
          </a:xfrm>
          <a:prstGeom prst="roundRect">
            <a:avLst>
              <a:gd fmla="val 18205" name="adj"/>
            </a:avLst>
          </a:prstGeom>
          <a:solidFill>
            <a:srgbClr val="FFFFFF"/>
          </a:solidFill>
          <a:ln cap="flat" cmpd="sng" w="28575">
            <a:solidFill>
              <a:srgbClr val="2E2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1428750" y="3698527"/>
            <a:ext cx="9829800" cy="403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55555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Minimalist Copy:</a:t>
            </a:r>
            <a:r>
              <a:rPr b="1" i="0" lang="en-US" sz="19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We say more with less words.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647700" y="4483298"/>
            <a:ext cx="10896600" cy="784770"/>
          </a:xfrm>
          <a:prstGeom prst="roundRect">
            <a:avLst>
              <a:gd fmla="val 18205" name="adj"/>
            </a:avLst>
          </a:prstGeom>
          <a:solidFill>
            <a:srgbClr val="FFFFFF"/>
          </a:solidFill>
          <a:ln cap="flat" cmpd="sng" w="28575">
            <a:solidFill>
              <a:srgbClr val="2E2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1428750" y="4673798"/>
            <a:ext cx="9829800" cy="403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55555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Emotional Hooks:</a:t>
            </a:r>
            <a:r>
              <a:rPr b="1" i="0" lang="en-US" sz="19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Design that makes you feel something.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647700" y="3288952"/>
            <a:ext cx="10896600" cy="285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647700" y="4264223"/>
            <a:ext cx="10896600" cy="285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47700" y="5239494"/>
            <a:ext cx="10896600" cy="285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025" y="2763142"/>
            <a:ext cx="3429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373841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4713684"/>
            <a:ext cx="304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647700" y="647700"/>
            <a:ext cx="1144143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BOLD FEATURES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647700" y="1495425"/>
            <a:ext cx="952500" cy="142875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76200"/>
            <a:ext cx="6019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647700" y="2751832"/>
            <a:ext cx="48768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Chunky shapes.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47700" y="3464272"/>
            <a:ext cx="48768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Vibrant colors.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47700" y="4252912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rPr>
              <a:t>No fluff.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47700" y="5129212"/>
            <a:ext cx="48768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Our identity is designed to be recognized instantly, even without a logo.</a:t>
            </a:r>
            <a:endParaRPr/>
          </a:p>
        </p:txBody>
      </p:sp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76200"/>
            <a:ext cx="5943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647700" y="1084957"/>
            <a:ext cx="5120640" cy="126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VISUAL LANGUAGE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647700" y="2447032"/>
            <a:ext cx="952500" cy="142875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1781175"/>
            <a:ext cx="10896600" cy="442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647700" y="4996755"/>
            <a:ext cx="108966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Bold design yields 2x higher engagement.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47700" y="647700"/>
            <a:ext cx="1144143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ENGAGEMENT STATS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647700" y="1495425"/>
            <a:ext cx="952500" cy="142875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1781175"/>
            <a:ext cx="10896600" cy="442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647700" y="647700"/>
            <a:ext cx="1144143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GROWTH TRAJECTORY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647700" y="1495425"/>
            <a:ext cx="952500" cy="142875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184201"/>
            <a:ext cx="33654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2184201"/>
            <a:ext cx="33654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0600" y="2184201"/>
            <a:ext cx="33654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801688" y="4794051"/>
            <a:ext cx="313367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DIRECTOR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876300" y="5205412"/>
            <a:ext cx="29844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Visionary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4529089" y="4794051"/>
            <a:ext cx="313367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 LEAD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4603700" y="5205412"/>
            <a:ext cx="29844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Architect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8256489" y="4794051"/>
            <a:ext cx="313367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STRATEGIST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8331100" y="5205412"/>
            <a:ext cx="29844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Planner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647700" y="647700"/>
            <a:ext cx="1144143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CREATIVES</a:t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647700" y="1495425"/>
            <a:ext cx="952500" cy="142875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3376166"/>
            <a:ext cx="2397174" cy="16201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0792" y="3376166"/>
            <a:ext cx="2397174" cy="16201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3884" y="3376166"/>
            <a:ext cx="2397174" cy="16201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6976" y="3376166"/>
            <a:ext cx="2397174" cy="162014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/>
          <p:nvPr/>
        </p:nvSpPr>
        <p:spPr>
          <a:xfrm>
            <a:off x="647700" y="4186237"/>
            <a:ext cx="10896600" cy="7620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827800" y="3908673"/>
            <a:ext cx="20369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Q1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876300" y="4356348"/>
            <a:ext cx="1939974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Concept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3660892" y="3908673"/>
            <a:ext cx="20369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Q2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3709392" y="4356348"/>
            <a:ext cx="1939974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6493985" y="3908673"/>
            <a:ext cx="20369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Q3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6542484" y="4356348"/>
            <a:ext cx="1939974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Launch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9327077" y="3908673"/>
            <a:ext cx="20369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Q4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9375576" y="4356348"/>
            <a:ext cx="1939974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Scale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647700" y="647700"/>
            <a:ext cx="1144143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LAUNCH PLAN</a:t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647700" y="1495425"/>
            <a:ext cx="952500" cy="142875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1795462"/>
            <a:ext cx="10896600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 txBox="1"/>
          <p:nvPr/>
        </p:nvSpPr>
        <p:spPr>
          <a:xfrm>
            <a:off x="975359" y="2366962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6B6B"/>
                </a:solidFill>
                <a:latin typeface="Archivo Black"/>
                <a:ea typeface="Archivo Black"/>
                <a:cs typeface="Archivo Black"/>
                <a:sym typeface="Archivo Black"/>
              </a:rPr>
              <a:t>LET'S MAKE NOISE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1219200" y="3338512"/>
            <a:ext cx="9753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hello@boldcreative.com</a:t>
            </a:r>
            <a:endParaRPr/>
          </a:p>
        </p:txBody>
      </p:sp>
      <p:pic>
        <p:nvPicPr>
          <p:cNvPr descr="image.png" id="233" name="Google Shape;23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6375" y="40624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0" y="40624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4062412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"/>
          <p:cNvSpPr/>
          <p:nvPr/>
        </p:nvSpPr>
        <p:spPr>
          <a:xfrm>
            <a:off x="647700" y="1423689"/>
            <a:ext cx="10896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647700" y="2195214"/>
            <a:ext cx="108966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647700" y="3097857"/>
            <a:ext cx="108966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647700" y="4000500"/>
            <a:ext cx="108966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647700" y="4903142"/>
            <a:ext cx="10896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647700" y="2185689"/>
            <a:ext cx="108966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647700" y="2185689"/>
            <a:ext cx="108966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647700" y="3088332"/>
            <a:ext cx="108966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647700" y="3088332"/>
            <a:ext cx="108966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647700" y="3990975"/>
            <a:ext cx="108966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647700" y="3990975"/>
            <a:ext cx="108966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647700" y="4893617"/>
            <a:ext cx="108966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647700" y="4893617"/>
            <a:ext cx="108966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647700" y="5665142"/>
            <a:ext cx="108966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647700" y="5665142"/>
            <a:ext cx="108966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5" name="Google Shape;2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15665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1743075" y="1587549"/>
            <a:ext cx="98012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http://unfocussed.com/cdn/shop/articles/Luminescent_Symphony.png?v=1732049525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1743075" y="1808410"/>
            <a:ext cx="98012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1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unfocussed.com</a:t>
            </a:r>
            <a:endParaRPr/>
          </a:p>
        </p:txBody>
      </p:sp>
      <p:pic>
        <p:nvPicPr>
          <p:cNvPr descr="image.png" id="258" name="Google Shape;25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" y="240357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1743075" y="2338089"/>
            <a:ext cx="98012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https://static.vecteezy.com/system/resources/previews/049/526/054/non_2x/speech-bubble-showing-tangled-lines-representing-confused-thoughts-vector.jpg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1743075" y="2732186"/>
            <a:ext cx="98012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1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www.vecteezy.com</a:t>
            </a:r>
            <a:endParaRPr/>
          </a:p>
        </p:txBody>
      </p:sp>
      <p:pic>
        <p:nvPicPr>
          <p:cNvPr descr="image.png" id="261" name="Google Shape;26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" y="33062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1743075" y="3240732"/>
            <a:ext cx="98012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https://static.vecteezy.com/system/resources/previews/059/308/353/non_2x/minimalist-couple-illustration-flat-design-pink-background-black-and-red-color-scheme-simple-cartoon-style-vector.jpg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743075" y="3634829"/>
            <a:ext cx="98012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1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www.vecteezy.com</a:t>
            </a:r>
            <a:endParaRPr/>
          </a:p>
        </p:txBody>
      </p:sp>
      <p:pic>
        <p:nvPicPr>
          <p:cNvPr descr="image.png" id="264" name="Google Shape;26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" y="42088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1743075" y="4143375"/>
            <a:ext cx="98012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https://render.fineartamerica.com/images/rendered/default/print/8/6/break/images/artworkimages/medium/3/color-study-squares-with-concentric-circles-by-wassily-kandinsky-orca-art-gallery.jpg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743075" y="4537471"/>
            <a:ext cx="98012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1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orca-artgallery.pixels.com</a:t>
            </a:r>
            <a:endParaRPr/>
          </a:p>
        </p:txBody>
      </p:sp>
      <p:pic>
        <p:nvPicPr>
          <p:cNvPr descr="image.png" id="267" name="Google Shape;26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" y="50460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1743075" y="5067002"/>
            <a:ext cx="98012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https://img.freepik.com/premium-vector/short-hair-woman-flat-avatar-vector_463875-147.jpg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1743075" y="5287863"/>
            <a:ext cx="98012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1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www.freepik.com</a:t>
            </a:r>
            <a:endParaRPr/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" y="58830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1743075" y="5817542"/>
            <a:ext cx="98012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https://static.vecteezy.com/system/resources/previews/019/494/610/non_2x/business-man-boy-avatar-user-person-people-beard-glasses-flat-sticker-black-style-vector.jpg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1743075" y="6211639"/>
            <a:ext cx="98012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1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www.vecteezy.com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647700" y="290214"/>
            <a:ext cx="1144143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IMAGE SOURCES</a:t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647700" y="1137939"/>
            <a:ext cx="952500" cy="142875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375746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/>
          <p:nvPr/>
        </p:nvSpPr>
        <p:spPr>
          <a:xfrm>
            <a:off x="1743075" y="3691979"/>
            <a:ext cx="98012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https://img.freepik.com/premium-vector/call-center-operator-avatar-with-headphone-online-support-service-assistant-male-customer-help-manager-vector-illustration-character_87946-6445.jpg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1743075" y="4086076"/>
            <a:ext cx="98012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1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www.freepik.com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647700" y="647700"/>
            <a:ext cx="1144143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E2E2E"/>
                </a:solidFill>
                <a:latin typeface="Archivo Black"/>
                <a:ea typeface="Archivo Black"/>
                <a:cs typeface="Archivo Black"/>
                <a:sym typeface="Archivo Black"/>
              </a:rPr>
              <a:t>IMAGE SOURCES</a:t>
            </a:r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647700" y="1495425"/>
            <a:ext cx="952500" cy="142875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