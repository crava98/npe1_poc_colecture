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La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DBA2A8-FC60-4C4C-A74F-F95557BE76FA}">
  <a:tblStyle styleId="{36DBA2A8-FC60-4C4C-A74F-F95557BE76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Lato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LatoLight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Light-boldItalic.fntdata"/><Relationship Id="rId30" Type="http://schemas.openxmlformats.org/officeDocument/2006/relationships/font" Target="fonts/Lato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690" y="0"/>
            <a:ext cx="41451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04669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618190" y="1428750"/>
            <a:ext cx="3152268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NORDIC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JOURNEY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8618190" y="3706862"/>
            <a:ext cx="300216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618190" y="4068812"/>
            <a:ext cx="300216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Lato Light"/>
                <a:ea typeface="Lato Light"/>
                <a:cs typeface="Lato Light"/>
                <a:sym typeface="Lato Light"/>
              </a:rPr>
              <a:t>A PHOTOGRAPHIC EXPLORATION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5419725" y="1871662"/>
            <a:ext cx="13525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CHAPTER ONE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319337"/>
            <a:ext cx="11601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Philosophy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of Slow Travel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091237" y="4433887"/>
            <a:ext cx="9525" cy="57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065115"/>
            <a:ext cx="5238750" cy="2108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065115"/>
            <a:ext cx="5238750" cy="210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Curated Destinations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360390"/>
            <a:ext cx="4880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High North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884265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Where the sun barely sets in summer and dances as aurora in winter. A land of stark contrasts and silent beauty, perfect for the solitary traveler seeking introspection.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77025" y="3360390"/>
            <a:ext cx="4880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Coastal Fjords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77025" y="3884265"/>
            <a:ext cx="46482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Ancient valleys carved by glaciers, now filled with the sea. The fjords offer a perspective on time itself, with towering cliffs that have stood watch for millennia.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62000" y="1619250"/>
            <a:ext cx="457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LANDSCAPE FOCUS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762000" y="1971675"/>
            <a:ext cx="48006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Deep Waters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762000" y="3333750"/>
            <a:ext cx="4572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The silence of the fjord is profound. It is not an empty silence, but a full one—filled with the weight of water and stone. Here, the modern world feels very far away.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62000" y="4518570"/>
            <a:ext cx="4572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We explore these waters by electric vessel, ensuring our passage leaves no trace but the wake behind us.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2762250" y="2414587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/>
        </p:nvSpPr>
        <p:spPr>
          <a:xfrm>
            <a:off x="2667000" y="1714500"/>
            <a:ext cx="6858000" cy="346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200" u="none" cap="none" strike="noStrike">
                <a:solidFill>
                  <a:srgbClr val="1A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"To move, to breathe, to fly, to float, To gain all while you give, To roam the roads of lands remote, To travel is to live." 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4581525" y="5467201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HANS CHRISTIAN ANDERSEN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Visual Diary</a:t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14562"/>
            <a:ext cx="3555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762000" y="5468391"/>
            <a:ext cx="647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Hygge</a:t>
            </a:r>
            <a:endParaRPr/>
          </a:p>
        </p:txBody>
      </p:sp>
      <p:pic>
        <p:nvPicPr>
          <p:cNvPr descr="image.png" id="132" name="Google Shape;1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214562"/>
            <a:ext cx="3555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4508450" y="5468391"/>
            <a:ext cx="714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Aurora</a:t>
            </a:r>
            <a:endParaRPr/>
          </a:p>
        </p:txBody>
      </p:sp>
      <p:pic>
        <p:nvPicPr>
          <p:cNvPr descr="image.png" id="134" name="Google Shape;13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214562"/>
            <a:ext cx="35559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8254900" y="5468391"/>
            <a:ext cx="561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Taste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Art of Hygge</a:t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71500" y="313655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It's more than just a word; it's a feeling of cozy contentment and well-being through enjoying the simple things in life.</a:t>
            </a:r>
            <a:endParaRPr/>
          </a:p>
        </p:txBody>
      </p:sp>
      <p:pic>
        <p:nvPicPr>
          <p:cNvPr descr="image.pn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764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762000" y="4031902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Atmosphere: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 Turn down the lights.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571500" y="4031902"/>
            <a:ext cx="19050" cy="27429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62000" y="4449067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Presence: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 Turn off the phones.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71500" y="4449067"/>
            <a:ext cx="19050" cy="27429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62000" y="4866233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Comfort: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 Get comfortable. Take a break.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71500" y="4866233"/>
            <a:ext cx="19050" cy="27429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48781"/>
            <a:ext cx="2430660" cy="2017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180" y="3348781"/>
            <a:ext cx="2430660" cy="2017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860" y="3348781"/>
            <a:ext cx="2430660" cy="20178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9541" y="3348781"/>
            <a:ext cx="2430660" cy="201781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7-Day Expedition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71500" y="4357687"/>
            <a:ext cx="11049000" cy="9525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771525" y="3548806"/>
            <a:ext cx="20306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DAY 1-2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720759" y="3989337"/>
            <a:ext cx="21321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Oslo Arrival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771525" y="4446537"/>
            <a:ext cx="203061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Urban culture &amp; architecture.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3644205" y="3548806"/>
            <a:ext cx="20306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DAY 3-4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3593440" y="3989337"/>
            <a:ext cx="21321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Highlands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644205" y="4446537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Scenic rail journey &amp; hiking.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516885" y="3548806"/>
            <a:ext cx="20306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DAY 5-6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466120" y="3989337"/>
            <a:ext cx="21321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Fjord Cruise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516885" y="4446537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Electric sailing &amp; kayaking.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389566" y="3548806"/>
            <a:ext cx="20306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4A484"/>
                </a:solidFill>
                <a:latin typeface="Lato"/>
                <a:ea typeface="Lato"/>
                <a:cs typeface="Lato"/>
                <a:sym typeface="Lato"/>
              </a:rPr>
              <a:t>DAY 7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338801" y="3989337"/>
            <a:ext cx="21321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Bergen Departure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9389566" y="4446537"/>
            <a:ext cx="203061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Coastal history &amp; farewell.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96516"/>
            <a:ext cx="11049000" cy="444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71500" y="515391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Seasonal Daylight Hours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5810250" y="958304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571500" y="589701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Planning your trip around light is essential in the North.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2182117"/>
            <a:ext cx="88392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Rise of Eco-Tourism</a:t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5611117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Traveler interest in sustainable, low-impact experiences has doubled.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Exclusive Packages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5810250" y="1014412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23"/>
          <p:cNvGraphicFramePr/>
          <p:nvPr/>
        </p:nvGraphicFramePr>
        <p:xfrm>
          <a:off x="571500" y="28499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{36DBA2A8-FC60-4C4C-A74F-F95557BE76FA}</a:tableStyleId>
              </a:tblPr>
              <a:tblGrid>
                <a:gridCol w="2725200"/>
                <a:gridCol w="2117825"/>
                <a:gridCol w="3332700"/>
                <a:gridCol w="2873275"/>
              </a:tblGrid>
              <a:tr h="68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Package Tier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Duration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Accommodation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Explorer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Boutique Hotels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Nature &amp; Hiking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Heritage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10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Historic Manors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Culture &amp; 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Aurora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Glass Igloos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44444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Northern Lights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3"/>
          <p:cNvSpPr/>
          <p:nvPr/>
        </p:nvSpPr>
        <p:spPr>
          <a:xfrm>
            <a:off x="571500" y="3556545"/>
            <a:ext cx="2725191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296691" y="3556545"/>
            <a:ext cx="2117824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5414516" y="3556545"/>
            <a:ext cx="3332708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8747224" y="3556545"/>
            <a:ext cx="2873275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71500" y="4235648"/>
            <a:ext cx="272519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296691" y="4235648"/>
            <a:ext cx="211782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414516" y="4235648"/>
            <a:ext cx="333270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8747224" y="4235648"/>
            <a:ext cx="2873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71500" y="4900463"/>
            <a:ext cx="272519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3296691" y="4900463"/>
            <a:ext cx="211782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414516" y="4900463"/>
            <a:ext cx="333270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8747224" y="4900463"/>
            <a:ext cx="2873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71500" y="5565278"/>
            <a:ext cx="272519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296691" y="5565278"/>
            <a:ext cx="211782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414516" y="5565278"/>
            <a:ext cx="333270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8747224" y="5565278"/>
            <a:ext cx="28732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295275" y="2241202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Inquiries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571500" y="348897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journey@nordic.com</a:t>
            </a:r>
            <a:endParaRPr/>
          </a:p>
        </p:txBody>
      </p:sp>
      <p:pic>
        <p:nvPicPr>
          <p:cNvPr descr="image.png" id="218" name="Google Shape;2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0" y="4330898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4330898"/>
            <a:ext cx="2762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/>
        </p:nvSpPr>
        <p:spPr>
          <a:xfrm>
            <a:off x="571500" y="19079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5810250" y="633710"/>
            <a:ext cx="571500" cy="1905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15719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235669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333955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412432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510718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23471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234716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33300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71500" y="33300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71500" y="4114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4114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571500" y="5097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50976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58824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71500" y="58824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213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1666875" y="17147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https://img.freepik.com/premium-photo/forest-beautiful-misty-mountain-cloudy-sky-nordic-natural-scenery-national-park_1164710-982.jpg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1666875" y="19605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www.freepik.com</a:t>
            </a:r>
            <a:endParaRPr/>
          </a:p>
        </p:txBody>
      </p:sp>
      <p:pic>
        <p:nvPicPr>
          <p:cNvPr descr="image.png"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523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1666875" y="249956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https://plus.unsplash.com/premium_photo-1756131939059-317cf18526f5?fm=jpg&amp;q=60&amp;w=3000&amp;ixlib=rb-4.1.0&amp;ixid=M3wxMjA3fDB8MHxwaG90by1yZWxhdGVkfDE2fHx8ZW58MHx8fHx8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1666875" y="29433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unsplash.com</a:t>
            </a:r>
            <a:endParaRPr/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8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1666875" y="348242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https://artfulliving.com/wp-content/uploads/2020/10/LILLA-NORR-FEAT.jpg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666875" y="37281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artfulliving.com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28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66875" y="42672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https://breakthedeal.com/file/2020_09/murale_wall_mural_aurora_borealis_over_the_snowy_mountains_coast_of_the_lake_and_reflection_in_water_northern_lights_above_snow_covered_rocks_winter_l-16yf28x9-1000.jpeg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47110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mamurale.com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2566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66875" y="52500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https://d2d9hom4y5lr0f.cloudfront.net/2021/01/Swedish-Coffee-FIKA-Culture-Explained-Scandinavia-Standard-624x390.jpg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66875" y="54957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www.scandinaviastandard.com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0413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60348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https://png.pngtree.com/thumb_back/fw800/background/20250915/pngtree-a-lone-hiker-with-trekking-polish-look-over-vast-scenic-mountain-image_19363152.webp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62805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 Light"/>
                <a:ea typeface="Lato Light"/>
                <a:cs typeface="Lato Light"/>
                <a:sym typeface="Lato Light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