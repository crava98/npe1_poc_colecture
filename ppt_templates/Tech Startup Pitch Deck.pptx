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Exo 2"/>
      <p:regular r:id="rId19"/>
      <p:bold r:id="rId20"/>
      <p:italic r:id="rId21"/>
      <p:boldItalic r:id="rId22"/>
    </p:embeddedFont>
    <p:embeddedFont>
      <p:font typeface="Orbitron"/>
      <p:regular r:id="rId23"/>
      <p:bold r:id="rId24"/>
    </p:embeddedFont>
    <p:embeddedFont>
      <p:font typeface="Orbitron Black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xo2-bold.fntdata"/><Relationship Id="rId22" Type="http://schemas.openxmlformats.org/officeDocument/2006/relationships/font" Target="fonts/Exo2-boldItalic.fntdata"/><Relationship Id="rId21" Type="http://schemas.openxmlformats.org/officeDocument/2006/relationships/font" Target="fonts/Exo2-italic.fntdata"/><Relationship Id="rId24" Type="http://schemas.openxmlformats.org/officeDocument/2006/relationships/font" Target="fonts/Orbitron-bold.fntdata"/><Relationship Id="rId23" Type="http://schemas.openxmlformats.org/officeDocument/2006/relationships/font" Target="fonts/Orbitron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rbitronBlac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Exo2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32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7.png"/><Relationship Id="rId11" Type="http://schemas.openxmlformats.org/officeDocument/2006/relationships/image" Target="../media/image37.png"/><Relationship Id="rId10" Type="http://schemas.openxmlformats.org/officeDocument/2006/relationships/image" Target="../media/image19.png"/><Relationship Id="rId12" Type="http://schemas.openxmlformats.org/officeDocument/2006/relationships/image" Target="../media/image26.png"/><Relationship Id="rId9" Type="http://schemas.openxmlformats.org/officeDocument/2006/relationships/image" Target="../media/image25.png"/><Relationship Id="rId5" Type="http://schemas.openxmlformats.org/officeDocument/2006/relationships/image" Target="../media/image39.png"/><Relationship Id="rId6" Type="http://schemas.openxmlformats.org/officeDocument/2006/relationships/image" Target="../media/image28.png"/><Relationship Id="rId7" Type="http://schemas.openxmlformats.org/officeDocument/2006/relationships/image" Target="../media/image34.png"/><Relationship Id="rId8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Relationship Id="rId5" Type="http://schemas.openxmlformats.org/officeDocument/2006/relationships/image" Target="../media/image30.png"/><Relationship Id="rId6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5" Type="http://schemas.openxmlformats.org/officeDocument/2006/relationships/image" Target="../media/image33.png"/><Relationship Id="rId6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31.png"/><Relationship Id="rId5" Type="http://schemas.openxmlformats.org/officeDocument/2006/relationships/image" Target="../media/image36.png"/><Relationship Id="rId6" Type="http://schemas.openxmlformats.org/officeDocument/2006/relationships/image" Target="../media/image4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35.png"/><Relationship Id="rId5" Type="http://schemas.openxmlformats.org/officeDocument/2006/relationships/image" Target="../media/image44.png"/><Relationship Id="rId6" Type="http://schemas.openxmlformats.org/officeDocument/2006/relationships/image" Target="../media/image38.png"/><Relationship Id="rId7" Type="http://schemas.openxmlformats.org/officeDocument/2006/relationships/image" Target="../media/image43.png"/><Relationship Id="rId8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1729680"/>
            <a:ext cx="5540692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6C63FF"/>
                </a:solidFill>
                <a:latin typeface="Orbitron Black"/>
                <a:ea typeface="Orbitron Black"/>
                <a:cs typeface="Orbitron Black"/>
                <a:sym typeface="Orbitron Black"/>
              </a:rPr>
              <a:t>THE FUTURE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000" u="none" cap="none" strike="noStrike">
                <a:solidFill>
                  <a:srgbClr val="6C63FF"/>
                </a:solidFill>
                <a:latin typeface="Orbitron Black"/>
                <a:ea typeface="Orbitron Black"/>
                <a:cs typeface="Orbitron Black"/>
                <a:sym typeface="Orbitron Black"/>
              </a:rPr>
              <a:t> PROTOCOL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4434780"/>
            <a:ext cx="52768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F0FF"/>
                </a:solidFill>
                <a:latin typeface="Orbitron"/>
                <a:ea typeface="Orbitron"/>
                <a:cs typeface="Orbitron"/>
                <a:sym typeface="Orbitron"/>
              </a:rPr>
              <a:t>Decentralized Solutions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29680"/>
            <a:ext cx="5276850" cy="3398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3290649" y="2624137"/>
            <a:ext cx="5610701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THE PROBLEM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4250769" y="4005262"/>
            <a:ext cx="369046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F0FF"/>
                </a:solidFill>
                <a:latin typeface="Orbitron"/>
                <a:ea typeface="Orbitron"/>
                <a:cs typeface="Orbitron"/>
                <a:sym typeface="Orbitron"/>
              </a:rPr>
              <a:t>CENTRALIZED BOTTLENECKS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84090"/>
            <a:ext cx="5372100" cy="2927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484090"/>
            <a:ext cx="5372100" cy="2927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C63FF"/>
                </a:solidFill>
                <a:latin typeface="Orbitron"/>
                <a:ea typeface="Orbitron"/>
                <a:cs typeface="Orbitron"/>
                <a:sym typeface="Orbitron"/>
              </a:rPr>
              <a:t>SYSTEMIC FAILURES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581025" y="1219200"/>
            <a:ext cx="11029950" cy="1905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876300" y="3522315"/>
            <a:ext cx="189023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DATA SILOS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76300" y="4122390"/>
            <a:ext cx="47815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Legacy systems trap valuable data in isolated environments, preventing interoperability and slowing down innovation speed by 40%.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534150" y="3522315"/>
            <a:ext cx="259032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SECURITY RISKS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534150" y="4122390"/>
            <a:ext cx="47815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Centralized servers create single points of failure. In 2023 alone, centralized breaches cost the industry over $4 Billion.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83651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4150" y="283651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771525" y="867816"/>
            <a:ext cx="4790598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C63FF"/>
                </a:solidFill>
                <a:latin typeface="Orbitron"/>
                <a:ea typeface="Orbitron"/>
                <a:cs typeface="Orbitron"/>
                <a:sym typeface="Orbitron"/>
              </a:rPr>
              <a:t>THE DECENTRALIZED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150" u="none" cap="none" strike="noStrike">
                <a:solidFill>
                  <a:srgbClr val="6C63FF"/>
                </a:solidFill>
                <a:latin typeface="Orbitron"/>
                <a:ea typeface="Orbitron"/>
                <a:cs typeface="Orbitron"/>
                <a:sym typeface="Orbitron"/>
              </a:rPr>
              <a:t> SOLUTION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771525" y="2496591"/>
            <a:ext cx="4562475" cy="1905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771525" y="2896641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A trustless, immutable infrastructure layer.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104900" y="3639591"/>
            <a:ext cx="42291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Distributed Nodes: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 Zero downtime architecture driven by a global community.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104900" y="4378672"/>
            <a:ext cx="42291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End-to-End Encryption: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 Military-grade security protocols ensuring data sovereignty.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104900" y="5117752"/>
            <a:ext cx="42291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Scalable Consensus: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 Processing 50,000+ transactions per second.</a:t>
            </a:r>
            <a:endParaRPr/>
          </a:p>
        </p:txBody>
      </p:sp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65864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439772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5136802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41215"/>
            <a:ext cx="3486150" cy="3213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341215"/>
            <a:ext cx="3486150" cy="3213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341215"/>
            <a:ext cx="3486150" cy="321364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C63FF"/>
                </a:solidFill>
                <a:latin typeface="Orbitron"/>
                <a:ea typeface="Orbitron"/>
                <a:cs typeface="Orbitron"/>
                <a:sym typeface="Orbitron"/>
              </a:rPr>
              <a:t>CORE ARCHITECTURE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81025" y="1219200"/>
            <a:ext cx="11029950" cy="1905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803910" y="3379440"/>
            <a:ext cx="304038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IMMUTABLE LEDGER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76300" y="4265265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Tamper-proof history of all transactions ensures absolute transparency.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4575810" y="3379440"/>
            <a:ext cx="304038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SMART CONTRACTS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4648200" y="4265265"/>
            <a:ext cx="28956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Self-executing automated workflows that remove intermediaries.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722756" y="3379440"/>
            <a:ext cx="229028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P2P NETWORK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420100" y="3979515"/>
            <a:ext cx="28956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Direct peer-to-peer data transfer reducing latency and costs.</a:t>
            </a:r>
            <a:endParaRPr/>
          </a:p>
        </p:txBody>
      </p:sp>
      <p:pic>
        <p:nvPicPr>
          <p:cNvPr descr="image.png" id="141" name="Google Shape;14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38350" y="269364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4550" y="269364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67875" y="2693640"/>
            <a:ext cx="4000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19250"/>
            <a:ext cx="11029950" cy="465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C63FF"/>
                </a:solidFill>
                <a:latin typeface="Orbitron"/>
                <a:ea typeface="Orbitron"/>
                <a:cs typeface="Orbitron"/>
                <a:sym typeface="Orbitron"/>
              </a:rPr>
              <a:t>TRANSACTION SPEED (TPS)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581025" y="1219200"/>
            <a:ext cx="11029950" cy="1905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581025" y="5039617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00F0FF"/>
                </a:solidFill>
                <a:latin typeface="Exo 2"/>
                <a:ea typeface="Exo 2"/>
                <a:cs typeface="Exo 2"/>
                <a:sym typeface="Exo 2"/>
              </a:rPr>
              <a:t>Outperforming legacy systems by over 10x.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19250"/>
            <a:ext cx="11029950" cy="465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C63FF"/>
                </a:solidFill>
                <a:latin typeface="Orbitron"/>
                <a:ea typeface="Orbitron"/>
                <a:cs typeface="Orbitron"/>
                <a:sym typeface="Orbitron"/>
              </a:rPr>
              <a:t>NETWORK GROWTH</a:t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581025" y="1219200"/>
            <a:ext cx="11029950" cy="1905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962025" y="5831234"/>
            <a:ext cx="10267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Exponential node adoption in last 12 months.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033712"/>
            <a:ext cx="348615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3033712"/>
            <a:ext cx="348615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3033712"/>
            <a:ext cx="348615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C63FF"/>
                </a:solidFill>
                <a:latin typeface="Orbitron"/>
                <a:ea typeface="Orbitron"/>
                <a:cs typeface="Orbitron"/>
                <a:sym typeface="Orbitron"/>
              </a:rPr>
              <a:t>TRACTION</a:t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581025" y="1219200"/>
            <a:ext cx="11029950" cy="1905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590550" y="3929062"/>
            <a:ext cx="34671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781050" y="3424237"/>
            <a:ext cx="30861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F0FF"/>
                </a:solidFill>
                <a:latin typeface="Orbitron"/>
                <a:ea typeface="Orbitron"/>
                <a:cs typeface="Orbitron"/>
                <a:sym typeface="Orbitron"/>
              </a:rPr>
              <a:t>1M+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1604962" y="4243387"/>
            <a:ext cx="14382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TRANSACTIONS</a:t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4362450" y="3929062"/>
            <a:ext cx="34671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552950" y="3424237"/>
            <a:ext cx="30861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F0FF"/>
                </a:solidFill>
                <a:latin typeface="Orbitron"/>
                <a:ea typeface="Orbitron"/>
                <a:cs typeface="Orbitron"/>
                <a:sym typeface="Orbitron"/>
              </a:rPr>
              <a:t>50k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424487" y="4243387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ACTIVE NODES</a:t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8134350" y="3929062"/>
            <a:ext cx="346710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8324850" y="3424237"/>
            <a:ext cx="30861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F0FF"/>
                </a:solidFill>
                <a:latin typeface="Orbitron"/>
                <a:ea typeface="Orbitron"/>
                <a:cs typeface="Orbitron"/>
                <a:sym typeface="Orbitron"/>
              </a:rPr>
              <a:t>$500M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8863012" y="4243387"/>
            <a:ext cx="2009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TOTAL VALUE LOCKED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77380"/>
            <a:ext cx="3486150" cy="31413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377380"/>
            <a:ext cx="3486150" cy="31413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377380"/>
            <a:ext cx="3486150" cy="31413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2377380"/>
            <a:ext cx="34861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52925" y="2377380"/>
            <a:ext cx="34861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24825" y="2377380"/>
            <a:ext cx="34861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C63FF"/>
                </a:solidFill>
                <a:latin typeface="Orbitron"/>
                <a:ea typeface="Orbitron"/>
                <a:cs typeface="Orbitron"/>
                <a:sym typeface="Orbitron"/>
              </a:rPr>
              <a:t>ECOSYSTEM USE CASES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581025" y="1219200"/>
            <a:ext cx="11029950" cy="1905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1984057" y="4472880"/>
            <a:ext cx="68008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DEFI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942975" y="5072955"/>
            <a:ext cx="2762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Decentralized Exchanges &amp; Lending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5010864" y="4472880"/>
            <a:ext cx="217027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SMART CITIES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5324475" y="5072955"/>
            <a:ext cx="15430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IoT Data Verification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9172813" y="4472880"/>
            <a:ext cx="13901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IDENTITY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8658225" y="5072955"/>
            <a:ext cx="2419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Self-Sovereign ID Management</a:t>
            </a:r>
            <a:endParaRPr/>
          </a:p>
        </p:txBody>
      </p:sp>
      <p:pic>
        <p:nvPicPr>
          <p:cNvPr descr="image.png" id="200" name="Google Shape;200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0550" y="2386905"/>
            <a:ext cx="346710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362450" y="2386905"/>
            <a:ext cx="346710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134350" y="2386905"/>
            <a:ext cx="3467100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411884"/>
            <a:ext cx="2426493" cy="1548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8794" y="3411884"/>
            <a:ext cx="2426493" cy="1548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6563" y="3411884"/>
            <a:ext cx="2426493" cy="1548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84332" y="3411884"/>
            <a:ext cx="2426493" cy="154870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C63FF"/>
                </a:solidFill>
                <a:latin typeface="Orbitron"/>
                <a:ea typeface="Orbitron"/>
                <a:cs typeface="Orbitron"/>
                <a:sym typeface="Orbitron"/>
              </a:rPr>
              <a:t>2025 ROADMAP</a:t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581025" y="1219200"/>
            <a:ext cx="11029950" cy="1905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581025" y="4186237"/>
            <a:ext cx="11029950" cy="1905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740390" y="3621434"/>
            <a:ext cx="210776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0FF"/>
                </a:solidFill>
                <a:latin typeface="Orbitron"/>
                <a:ea typeface="Orbitron"/>
                <a:cs typeface="Orbitron"/>
                <a:sym typeface="Orbitron"/>
              </a:rPr>
              <a:t>Q1: LAUNCH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790575" y="4031009"/>
            <a:ext cx="20073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Mainnet Beta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 Token Generation Event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3608159" y="3621434"/>
            <a:ext cx="210776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0FF"/>
                </a:solidFill>
                <a:latin typeface="Orbitron"/>
                <a:ea typeface="Orbitron"/>
                <a:cs typeface="Orbitron"/>
                <a:sym typeface="Orbitron"/>
              </a:rPr>
              <a:t>Q2: SCALE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3658344" y="4031009"/>
            <a:ext cx="20073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Exchange Listing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 Developer SDK V1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6475928" y="3621434"/>
            <a:ext cx="210776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0FF"/>
                </a:solidFill>
                <a:latin typeface="Orbitron"/>
                <a:ea typeface="Orbitron"/>
                <a:cs typeface="Orbitron"/>
                <a:sym typeface="Orbitron"/>
              </a:rPr>
              <a:t>Q3: EXPAND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6526113" y="4031009"/>
            <a:ext cx="20073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Cross-chain Bridges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 Mobile Wallet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9343697" y="3621434"/>
            <a:ext cx="210776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0FF"/>
                </a:solidFill>
                <a:latin typeface="Orbitron"/>
                <a:ea typeface="Orbitron"/>
                <a:cs typeface="Orbitron"/>
                <a:sym typeface="Orbitron"/>
              </a:rPr>
              <a:t>Q4: GOVERN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9393882" y="4031009"/>
            <a:ext cx="20073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DAO Transition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 Community Grants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317998"/>
            <a:ext cx="5276850" cy="326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C63FF"/>
                </a:solidFill>
                <a:latin typeface="Orbitron"/>
                <a:ea typeface="Orbitron"/>
                <a:cs typeface="Orbitron"/>
                <a:sym typeface="Orbitron"/>
              </a:rPr>
              <a:t>TOKENOMICS</a:t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581025" y="1219200"/>
            <a:ext cx="11029950" cy="1905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1" name="Google Shape;23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327523"/>
            <a:ext cx="5257800" cy="324103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914400" y="2976562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Total Supply: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 1,000,000,000 Tokens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914400" y="3441352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Utility: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 Gas fees, Staking, Governance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914400" y="3906142"/>
            <a:ext cx="4943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Deflationary: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 2% burn on every transaction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914400" y="4370933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Distribution: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 40% Community, 20% Dev, 20% Investors, 20% Reserve</a:t>
            </a:r>
            <a:endParaRPr/>
          </a:p>
        </p:txBody>
      </p:sp>
      <p:pic>
        <p:nvPicPr>
          <p:cNvPr descr="image.png" id="236" name="Google Shape;23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9956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46040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92519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389983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 txBox="1"/>
          <p:nvPr/>
        </p:nvSpPr>
        <p:spPr>
          <a:xfrm>
            <a:off x="1805463" y="2129730"/>
            <a:ext cx="8581072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JOIN THE FUTURE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3767137" y="3272730"/>
            <a:ext cx="465772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contact@futureprotocol.io</a:t>
            </a:r>
            <a:endParaRPr/>
          </a:p>
        </p:txBody>
      </p:sp>
      <p:pic>
        <p:nvPicPr>
          <p:cNvPr descr="image.png" id="247" name="Google Shape;24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1137" y="434712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62637" y="434712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9387" y="4347120"/>
            <a:ext cx="3714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 txBox="1"/>
          <p:nvPr/>
        </p:nvSpPr>
        <p:spPr>
          <a:xfrm>
            <a:off x="581025" y="457497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C63FF"/>
                </a:solidFill>
                <a:latin typeface="Orbitron"/>
                <a:ea typeface="Orbitron"/>
                <a:cs typeface="Orbitron"/>
                <a:sym typeface="Orbitron"/>
              </a:rPr>
              <a:t>IMAGE SOURCES</a:t>
            </a:r>
            <a:endParaRPr/>
          </a:p>
        </p:txBody>
      </p:sp>
      <p:sp>
        <p:nvSpPr>
          <p:cNvPr id="256" name="Google Shape;256;p25"/>
          <p:cNvSpPr/>
          <p:nvPr/>
        </p:nvSpPr>
        <p:spPr>
          <a:xfrm>
            <a:off x="581025" y="1095672"/>
            <a:ext cx="11029950" cy="1905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81025" y="1495722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81025" y="2478583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81025" y="3461444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81025" y="4444305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81025" y="24690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81025" y="24690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81025" y="345191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81025" y="345191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81025" y="443478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81025" y="443478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81025" y="541764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81025" y="541764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9" name="Google Shape;26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4426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1676400" y="1638597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https://png.pngtree.com/thumb_back/fh260/background/20251030/pngtree-abstract-digital-cloud-computing-network-with-circuitry-and-data-streams-image_20135758.webp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1676400" y="208240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Exo 2"/>
                <a:ea typeface="Exo 2"/>
                <a:cs typeface="Exo 2"/>
                <a:sym typeface="Exo 2"/>
              </a:rPr>
              <a:t>pngtree.com</a:t>
            </a:r>
            <a:endParaRPr/>
          </a:p>
        </p:txBody>
      </p:sp>
      <p:pic>
        <p:nvPicPr>
          <p:cNvPr descr="image.png" id="272" name="Google Shape;27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72712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1676400" y="2621458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https://static.vecteezy.com/system/resources/previews/055/845/010/non_2x/neon-blue-blockchain-cube-network-symbolizing-digital-security-decentralization-and-futuristic-technology-vector.jpg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1676400" y="3065264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Exo 2"/>
                <a:ea typeface="Exo 2"/>
                <a:cs typeface="Exo 2"/>
                <a:sym typeface="Exo 2"/>
              </a:rPr>
              <a:t>www.vecteezy.com</a:t>
            </a:r>
            <a:endParaRPr/>
          </a:p>
        </p:txBody>
      </p:sp>
      <p:pic>
        <p:nvPicPr>
          <p:cNvPr descr="image.png" id="275" name="Google Shape;27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7099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1676400" y="3604319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https://media.istockphoto.com/id/1353426419/vector/futuristic-ui-dashboard-technology-infographic-data-interface-charts-statistic-diagrams.jpg?s=612x612&amp;w=0&amp;k=20&amp;c=0tN9HJPF9qbrFzOOh9hoX2Fy9MVO7ErGvhjfhLxOLk0=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1676400" y="404812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Exo 2"/>
                <a:ea typeface="Exo 2"/>
                <a:cs typeface="Exo 2"/>
                <a:sym typeface="Exo 2"/>
              </a:rPr>
              <a:t>www.istockphoto.com</a:t>
            </a:r>
            <a:endParaRPr/>
          </a:p>
        </p:txBody>
      </p:sp>
      <p:pic>
        <p:nvPicPr>
          <p:cNvPr descr="image.png" id="278" name="Google Shape;278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69284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5"/>
          <p:cNvSpPr txBox="1"/>
          <p:nvPr/>
        </p:nvSpPr>
        <p:spPr>
          <a:xfrm>
            <a:off x="1676400" y="4587180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https://static.vecteezy.com/system/resources/thumbnails/022/168/865/small_2x/digital-technology-metaverse-neon-blue-green-background-cyber-information-abstract-speed-connect-communication-retro-city-future-meta-tech-internet-network-connection-ai-big-data-illustration-3d-vector.jpg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1676400" y="503098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Exo 2"/>
                <a:ea typeface="Exo 2"/>
                <a:cs typeface="Exo 2"/>
                <a:sym typeface="Exo 2"/>
              </a:rPr>
              <a:t>www.vecteezy.com</a:t>
            </a:r>
            <a:endParaRPr/>
          </a:p>
        </p:txBody>
      </p:sp>
      <p:pic>
        <p:nvPicPr>
          <p:cNvPr descr="image.png" id="281" name="Google Shape;281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56757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 txBox="1"/>
          <p:nvPr/>
        </p:nvSpPr>
        <p:spPr>
          <a:xfrm>
            <a:off x="1676400" y="5570041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https://static.vecteezy.com/system/resources/previews/051/808/532/non_2x/futuristic-glowing-fingerprint-with-plexus-lines-and-glitter-particles-biometric-in-the-neon-light-style-3d-abstract-copy-space-in-the-night-view-digital-technology-background-vector.jpg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1676400" y="6013846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Exo 2"/>
                <a:ea typeface="Exo 2"/>
                <a:cs typeface="Exo 2"/>
                <a:sym typeface="Exo 2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Exo 2"/>
                <a:ea typeface="Exo 2"/>
                <a:cs typeface="Exo 2"/>
                <a:sym typeface="Exo 2"/>
              </a:rPr>
              <a:t>www.vecteezy.com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