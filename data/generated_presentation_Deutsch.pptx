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Halluzinationen in LLMs: Eine Herausforderung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LLMs generieren überzeugend falsche Inhalte.</a:t>
            </a:r>
          </a:p>
          <a:p>
            <a:pPr>
              <a:defRPr sz="1800"/>
            </a:pPr>
            <a:r>
              <a:t>Hindernis für sicheren Einsatz.</a:t>
            </a:r>
          </a:p>
          <a:p>
            <a:pPr>
              <a:defRPr sz="1800"/>
            </a:pPr>
            <a:r>
              <a:t>Überblick über Erkennung &amp; Minderung.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sind Halluzinationen?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Sachlich falsche, unbegründete Aussagen.</a:t>
            </a:r>
          </a:p>
          <a:p>
            <a:pPr>
              <a:defRPr sz="1800"/>
            </a:pPr>
            <a:r>
              <a:t>Factual vs. Faithful Hallucinations.</a:t>
            </a:r>
          </a:p>
          <a:p>
            <a:pPr>
              <a:defRPr sz="1800"/>
            </a:pPr>
            <a:r>
              <a:t>Beispiele: Satzwidersprüche, erfundene Fakten.</a:t>
            </a:r>
          </a:p>
        </p:txBody>
      </p:sp>
      <p:pic>
        <p:nvPicPr>
          <p:cNvPr id="4" name="Picture 3" descr="img_falsefa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288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Ursachen von Halluzinationen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Fehlerhafte Trainingsdaten.</a:t>
            </a:r>
          </a:p>
          <a:p>
            <a:pPr>
              <a:defRPr sz="1800"/>
            </a:pPr>
            <a:r>
              <a:t>Overfitting &amp; Trainingsmethoden.</a:t>
            </a:r>
          </a:p>
          <a:p>
            <a:pPr>
              <a:defRPr sz="1800"/>
            </a:pPr>
            <a:r>
              <a:t>Inferenzstrategien &amp; Modellarchitektur.</a:t>
            </a:r>
          </a:p>
        </p:txBody>
      </p:sp>
      <p:pic>
        <p:nvPicPr>
          <p:cNvPr id="4" name="Picture 3" descr="img_databi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288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Halluzinationserkennung: Klassische Ansätze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Faktencheck: Externe Quellen oder interne Prüfung.</a:t>
            </a:r>
          </a:p>
          <a:p>
            <a:pPr>
              <a:defRPr sz="1800"/>
            </a:pPr>
            <a:r>
              <a:t>Unsicherheitsschätzung: Modellverhalten oder interne Zustände.</a:t>
            </a:r>
          </a:p>
          <a:p>
            <a:pPr>
              <a:defRPr sz="1800"/>
            </a:pPr>
            <a:r>
              <a:t>Herausforderungen: Kosten, Zuverlässigkeit der Quellen.</a:t>
            </a:r>
          </a:p>
        </p:txBody>
      </p:sp>
      <p:pic>
        <p:nvPicPr>
          <p:cNvPr id="4" name="Picture 3" descr="img_fact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288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Neue Wege: Interne Schichten nutzen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Probes analysieren interne Repräsentationen.</a:t>
            </a:r>
          </a:p>
          <a:p>
            <a:pPr>
              <a:defRPr sz="1800"/>
            </a:pPr>
            <a:r>
              <a:t>Erkennung ohne erneutes LLM-Training.</a:t>
            </a:r>
          </a:p>
          <a:p>
            <a:pPr>
              <a:defRPr sz="1800"/>
            </a:pPr>
            <a:r>
              <a:t>Fokus auf mittlere bis spätere Schichten.</a:t>
            </a:r>
          </a:p>
        </p:txBody>
      </p:sp>
      <p:pic>
        <p:nvPicPr>
          <p:cNvPr id="4" name="Picture 3" descr="img_AIinter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288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Unsere Methode: Schicht-Vergleich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Gleicher Feature-Extraktor pro Schicht.</a:t>
            </a:r>
          </a:p>
          <a:p>
            <a:pPr>
              <a:defRPr sz="1800"/>
            </a:pPr>
            <a:r>
              <a:t>Vergleich der Schicht-Ausgaben (z.B. Kosinus-Ähnlichkeit).</a:t>
            </a:r>
          </a:p>
          <a:p>
            <a:pPr>
              <a:defRPr sz="1800"/>
            </a:pPr>
            <a:r>
              <a:t>Aggregation zur Klassifikation.</a:t>
            </a:r>
          </a:p>
        </p:txBody>
      </p:sp>
      <p:pic>
        <p:nvPicPr>
          <p:cNvPr id="4" name="Picture 3" descr="img_AI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288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Generalisierung: Eine Kernherausforderung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Gute Leistung auf Trainingsdaten.</a:t>
            </a:r>
          </a:p>
          <a:p>
            <a:pPr>
              <a:defRPr sz="1800"/>
            </a:pPr>
            <a:r>
              <a:t>Schwierige Übertragung auf neue Benchmarks.</a:t>
            </a:r>
          </a:p>
          <a:p>
            <a:pPr>
              <a:defRPr sz="1800"/>
            </a:pPr>
            <a:r>
              <a:t>Modellgröße und Label-Imbalance beeinflussen.</a:t>
            </a:r>
          </a:p>
        </p:txBody>
      </p:sp>
      <p:pic>
        <p:nvPicPr>
          <p:cNvPr id="4" name="Picture 3" descr="img_AIgeneraliz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288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Minderung &amp; Zukunftsperspektiven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RAG, Selbst-Verfeinerung, Prompt Tuning.</a:t>
            </a:r>
          </a:p>
          <a:p>
            <a:pPr>
              <a:defRPr sz="1800"/>
            </a:pPr>
            <a:r>
              <a:t>Neue Dekodierungsstrategien, Knowledge Graphs.</a:t>
            </a:r>
          </a:p>
          <a:p>
            <a:pPr>
              <a:defRPr sz="1800"/>
            </a:pPr>
            <a:r>
              <a:t>Hybridmodelle, ethische Implikationen.</a:t>
            </a:r>
          </a:p>
        </p:txBody>
      </p:sp>
      <p:pic>
        <p:nvPicPr>
          <p:cNvPr id="4" name="Picture 3" descr="img_AIfu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288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