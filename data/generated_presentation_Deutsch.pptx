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LLM-Halluzinationen: Eine kritische Herausforderung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LLMs: Leistungsstark, doch fehleranfällig.</a:t>
            </a:r>
          </a:p>
          <a:p>
            <a:pPr>
              <a:defRPr sz="1800"/>
            </a:pPr>
            <a:r>
              <a:t>Halluzinationen: Plausible, aber faktisch falsch.</a:t>
            </a:r>
          </a:p>
          <a:p>
            <a:pPr>
              <a:defRPr sz="1800"/>
            </a:pPr>
            <a:r>
              <a:t>Konsequenzen: Fehlinformationen, Vertrauensverlust, Schäden.</a:t>
            </a:r>
          </a:p>
        </p:txBody>
      </p:sp>
      <p:pic>
        <p:nvPicPr>
          <p:cNvPr id="4" name="Picture 3" descr="img_AIerr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8288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Ursachen von LLM-Halluzinationen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Trainingsdaten: Unvollständig, veraltet, fehlerhaft.</a:t>
            </a:r>
          </a:p>
          <a:p>
            <a:pPr>
              <a:defRPr sz="1800"/>
            </a:pPr>
            <a:r>
              <a:t>Overfitting: Zu starke Anpassung an Daten.</a:t>
            </a:r>
          </a:p>
          <a:p>
            <a:pPr>
              <a:defRPr sz="1800"/>
            </a:pPr>
            <a:r>
              <a:t>Inferenz: Zufällige Token-Auswahl erzeugt Fehler.</a:t>
            </a:r>
          </a:p>
          <a:p>
            <a:pPr>
              <a:defRPr sz="1800"/>
            </a:pPr>
            <a:r>
              <a:t>Architektur: Nicht für Weltwissen optimiert.</a:t>
            </a:r>
          </a:p>
        </p:txBody>
      </p:sp>
      <p:pic>
        <p:nvPicPr>
          <p:cNvPr id="4" name="Picture 3" descr="img_databia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8288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Halluzinationserkennung: Klassische Ansätze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Fact-Checking: Abgleich mit externen Quellen.</a:t>
            </a:r>
          </a:p>
          <a:p>
            <a:pPr>
              <a:defRPr sz="1800"/>
            </a:pPr>
            <a:r>
              <a:t>Unsicherheits-Schätzung: Modell-Konfidenz bewerten.</a:t>
            </a:r>
          </a:p>
          <a:p>
            <a:pPr>
              <a:defRPr sz="1800"/>
            </a:pPr>
            <a:r>
              <a:t>Nachteile: Hoher Aufwand, Quellen-Abhängigkeit, Überkonfidenz.</a:t>
            </a:r>
          </a:p>
        </p:txBody>
      </p:sp>
      <p:pic>
        <p:nvPicPr>
          <p:cNvPr id="4" name="Picture 3" descr="img_factche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8288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Erkennung durch interne LLM-Schichten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Probing: Analyse interner Modell-Repräsentationen.</a:t>
            </a:r>
          </a:p>
          <a:p>
            <a:pPr>
              <a:defRPr sz="1800"/>
            </a:pPr>
            <a:r>
              <a:t>Wichtige Infos: Oft in mittleren/späteren Schichten.</a:t>
            </a:r>
          </a:p>
          <a:p>
            <a:pPr>
              <a:defRPr sz="1800"/>
            </a:pPr>
            <a:r>
              <a:t>Vorteil: Kostengünstig, keine Neuschulung des LLM.</a:t>
            </a:r>
          </a:p>
          <a:p>
            <a:pPr>
              <a:defRPr sz="1800"/>
            </a:pPr>
            <a:r>
              <a:t>Herausforderung: Generalisierung über Datensätze.</a:t>
            </a:r>
          </a:p>
        </p:txBody>
      </p:sp>
      <p:pic>
        <p:nvPicPr>
          <p:cNvPr id="4" name="Picture 3" descr="img_brainsc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8288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Strategien zur Halluzinationsminderung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Zwei Wege: Prompt Engineering, Modellentwicklung.</a:t>
            </a:r>
          </a:p>
          <a:p>
            <a:pPr>
              <a:defRPr sz="1800"/>
            </a:pPr>
            <a:r>
              <a:t>Über 32 Techniken identifiziert.</a:t>
            </a:r>
          </a:p>
          <a:p>
            <a:pPr>
              <a:defRPr sz="1800"/>
            </a:pPr>
            <a:r>
              <a:t>Ziel: Faktentreue und Verlässlichkeit steigern.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Minderung durch Prompt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RAG: Externe Wissensbasis integrieren.</a:t>
            </a:r>
          </a:p>
          <a:p>
            <a:pPr>
              <a:defRPr sz="1800"/>
            </a:pPr>
            <a:r>
              <a:t>Self-Refinement: Iteratives Feedback zur Verbesserung.</a:t>
            </a:r>
          </a:p>
          <a:p>
            <a:pPr>
              <a:defRPr sz="1800"/>
            </a:pPr>
            <a:r>
              <a:t>Prompt Tuning: Anweisungen für spezifische Aufgaben optimieren.</a:t>
            </a:r>
          </a:p>
        </p:txBody>
      </p:sp>
      <p:pic>
        <p:nvPicPr>
          <p:cNvPr id="4" name="Picture 3" descr="img_promptengineer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8288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Minderung durch Modellentwicklung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Decoding-Strategien: Generierungsprozess gezielt steuern.</a:t>
            </a:r>
          </a:p>
          <a:p>
            <a:pPr>
              <a:defRPr sz="1800"/>
            </a:pPr>
            <a:r>
              <a:t>Knowledge Graphs: Strukturierte Fakten einbinden.</a:t>
            </a:r>
          </a:p>
          <a:p>
            <a:pPr>
              <a:defRPr sz="1800"/>
            </a:pPr>
            <a:r>
              <a:t>Finetuning: Modelle auf Faktentreue anpassen.</a:t>
            </a:r>
          </a:p>
        </p:txBody>
      </p:sp>
      <p:pic>
        <p:nvPicPr>
          <p:cNvPr id="4" name="Picture 3" descr="img_AIdevelopmen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8288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Halluzinationsminderung: Grenzen und Zukunft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Generalisierung: Transfer auf neue Daten schwierig.</a:t>
            </a:r>
          </a:p>
          <a:p>
            <a:pPr>
              <a:defRPr sz="1800"/>
            </a:pPr>
            <a:r>
              <a:t>Fein-granulare Erkennung: Hohe Komplexität.</a:t>
            </a:r>
          </a:p>
          <a:p>
            <a:pPr>
              <a:defRPr sz="1800"/>
            </a:pPr>
            <a:r>
              <a:t>Hybridmodelle: Kombination verschiedener Ansätze.</a:t>
            </a:r>
          </a:p>
          <a:p>
            <a:pPr>
              <a:defRPr sz="1800"/>
            </a:pPr>
            <a:r>
              <a:t>Forschung: Ethik, Skalierbarkeit, neue Architekturen.</a:t>
            </a:r>
          </a:p>
        </p:txBody>
      </p:sp>
      <p:pic>
        <p:nvPicPr>
          <p:cNvPr id="4" name="Picture 3" descr="img_futuretechnolog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828800"/>
            <a:ext cx="5029200" cy="5029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