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of LLM 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LLMs generate human-like text.</a:t>
            </a:r>
          </a:p>
          <a:p>
            <a:pPr>
              <a:defRPr sz="1800"/>
            </a:pPr>
            <a:r>
              <a:t>Key challenge: 'Hallucinations' – ungrounded content.</a:t>
            </a:r>
          </a:p>
          <a:p>
            <a:pPr>
              <a:defRPr sz="1800"/>
            </a:pPr>
            <a:r>
              <a:t>Hindrance to real-world deployment.</a:t>
            </a:r>
          </a:p>
          <a:p>
            <a:pPr>
              <a:defRPr sz="1800"/>
            </a:pPr>
            <a:r>
              <a:t>Impacts sensitive applications.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LLM Hallucinations?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Factually erroneous information.</a:t>
            </a:r>
          </a:p>
          <a:p>
            <a:pPr>
              <a:defRPr sz="1800"/>
            </a:pPr>
            <a:r>
              <a:t>Appears plausible but unsupported.</a:t>
            </a:r>
          </a:p>
          <a:p>
            <a:pPr>
              <a:defRPr sz="1800"/>
            </a:pPr>
            <a:r>
              <a:t>Conflicts with verifiable world knowledge.</a:t>
            </a:r>
          </a:p>
          <a:p>
            <a:pPr>
              <a:defRPr sz="1800"/>
            </a:pPr>
            <a:r>
              <a:t>Can mislead diagnostic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and Causes of 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Types: Factual, faithful, self-contradictory, fabricated.</a:t>
            </a:r>
          </a:p>
          <a:p>
            <a:pPr>
              <a:defRPr sz="1800"/>
            </a:pPr>
            <a:r>
              <a:t>Causes: Parametric memory issues, overconfidence.</a:t>
            </a:r>
          </a:p>
          <a:p>
            <a:pPr>
              <a:defRPr sz="1800"/>
            </a:pPr>
            <a:r>
              <a:t>Also: Misleading alignment, generation strategy flaws.</a:t>
            </a:r>
          </a:p>
          <a:p>
            <a:pPr>
              <a:defRPr sz="1800"/>
            </a:pPr>
            <a:r>
              <a:t>Faulty model architecture, insufficient training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Detection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Fact-checking: Verify against knowledge sources.</a:t>
            </a:r>
          </a:p>
          <a:p>
            <a:pPr>
              <a:defRPr sz="1800"/>
            </a:pPr>
            <a:r>
              <a:t>Uncertainty estimation: Detect via uncertainty signals.</a:t>
            </a:r>
          </a:p>
          <a:p>
            <a:pPr>
              <a:defRPr sz="1800"/>
            </a:pPr>
            <a:r>
              <a:t>Drawbacks: High computational cost.</a:t>
            </a:r>
          </a:p>
          <a:p>
            <a:pPr>
              <a:defRPr sz="1800"/>
            </a:pPr>
            <a:r>
              <a:t>Unreliable knowledge sources, overconfident probabilities.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Probing Internal Layers for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Leverage LLM's internal representations.</a:t>
            </a:r>
          </a:p>
          <a:p>
            <a:pPr>
              <a:defRPr sz="1800"/>
            </a:pPr>
            <a:r>
              <a:t>Train external classifiers (probes).</a:t>
            </a:r>
          </a:p>
          <a:p>
            <a:pPr>
              <a:defRPr sz="1800"/>
            </a:pPr>
            <a:r>
              <a:t>Detect truth, lying behavior, or existing knowledge.</a:t>
            </a:r>
          </a:p>
          <a:p>
            <a:pPr>
              <a:defRPr sz="1800"/>
            </a:pPr>
            <a:r>
              <a:t>Enhances reliability without retraining LLMs.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Probing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No standard for good probing classifiers.</a:t>
            </a:r>
          </a:p>
          <a:p>
            <a:pPr>
              <a:defRPr sz="1800"/>
            </a:pPr>
            <a:r>
              <a:t>Poor generalization across tasks and datasets.</a:t>
            </a:r>
          </a:p>
          <a:p>
            <a:pPr>
              <a:defRPr sz="1800"/>
            </a:pPr>
            <a:r>
              <a:t>Not all model behavior easily decodable.</a:t>
            </a:r>
          </a:p>
          <a:p>
            <a:pPr>
              <a:defRPr sz="1800"/>
            </a:pPr>
            <a:r>
              <a:t>Conceptual roadblocks exist.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Engineering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Experiment with instructions for best output.</a:t>
            </a:r>
          </a:p>
          <a:p>
            <a:pPr>
              <a:defRPr sz="1800"/>
            </a:pPr>
            <a:r>
              <a:t>Provide specific context and expected outcomes.</a:t>
            </a:r>
          </a:p>
          <a:p>
            <a:pPr>
              <a:defRPr sz="1800"/>
            </a:pPr>
            <a:r>
              <a:t>Crucial for hallucination mitigation.</a:t>
            </a:r>
          </a:p>
          <a:p>
            <a:pPr>
              <a:defRPr sz="1800"/>
            </a:pPr>
            <a:r>
              <a:t>Can guide LLMs effectively.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Retrieval-Augmented Generation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Enhances LLM with external, authoritative knowledge bases.</a:t>
            </a:r>
          </a:p>
          <a:p>
            <a:pPr>
              <a:defRPr sz="1800"/>
            </a:pPr>
            <a:r>
              <a:t>Addresses accuracy and currency challenges.</a:t>
            </a:r>
          </a:p>
          <a:p>
            <a:pPr>
              <a:defRPr sz="1800"/>
            </a:pPr>
            <a:r>
              <a:t>Generates pertinent, current, and verifiable responses.</a:t>
            </a:r>
          </a:p>
          <a:p>
            <a:pPr>
              <a:defRPr sz="1800"/>
            </a:pPr>
            <a:r>
              <a:t>Reinforces user confidence.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RAG: Before, During, After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Before generation: LLM-Augmenter, FreshPrompt.</a:t>
            </a:r>
          </a:p>
          <a:p>
            <a:pPr>
              <a:defRPr sz="1800"/>
            </a:pPr>
            <a:r>
              <a:t>During generation: Knowledge Retrieval, Decompose &amp; Query, EVER.</a:t>
            </a:r>
          </a:p>
          <a:p>
            <a:pPr>
              <a:defRPr sz="1800"/>
            </a:pPr>
            <a:r>
              <a:t>After generation: RARR, High Entropy Word Spotting.</a:t>
            </a:r>
          </a:p>
          <a:p>
            <a:pPr>
              <a:defRPr sz="1800"/>
            </a:pPr>
            <a:r>
              <a:t>End-to-End RAG: Integrates retriever and generator.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Self-Refinement &amp; Prompt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Self-refinement: Iterative feedback for accuracy.</a:t>
            </a:r>
          </a:p>
          <a:p>
            <a:pPr>
              <a:defRPr sz="1800"/>
            </a:pPr>
            <a:r>
              <a:t>Examples: CoVe, CoNLI, ChatProtect, Mind's Mirror.</a:t>
            </a:r>
          </a:p>
          <a:p>
            <a:pPr>
              <a:defRPr sz="1800"/>
            </a:pPr>
            <a:r>
              <a:t>Prompt Tuning: Adjusting 'soft prompts' during fine-tuning.</a:t>
            </a:r>
          </a:p>
          <a:p>
            <a:pPr>
              <a:defRPr sz="1800"/>
            </a:pPr>
            <a:r>
              <a:t>Examples: UPRISE, SynTra.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Developing Models for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Focus on novel model architectures.</a:t>
            </a:r>
          </a:p>
          <a:p>
            <a:pPr>
              <a:defRPr sz="1800"/>
            </a:pPr>
            <a:r>
              <a:t>Ongoing process, algorithmic advancements.</a:t>
            </a:r>
          </a:p>
          <a:p>
            <a:pPr>
              <a:defRPr sz="1800"/>
            </a:pPr>
            <a:r>
              <a:t>Aims to tackle hallucinations directly.</a:t>
            </a:r>
          </a:p>
          <a:p>
            <a:pPr>
              <a:defRPr sz="1800"/>
            </a:pPr>
            <a:r>
              <a:t>Requires data quality improvements.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Decoding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Target the generation phase of models.</a:t>
            </a:r>
          </a:p>
          <a:p>
            <a:pPr>
              <a:defRPr sz="1800"/>
            </a:pPr>
            <a:r>
              <a:t>Reduce hallucination occurrences in outputs.</a:t>
            </a:r>
          </a:p>
          <a:p>
            <a:pPr>
              <a:defRPr sz="1800"/>
            </a:pPr>
            <a:r>
              <a:t>Guide towards authentic, context-specific generation.</a:t>
            </a:r>
          </a:p>
          <a:p>
            <a:pPr>
              <a:defRPr sz="1800"/>
            </a:pPr>
            <a:r>
              <a:t>Examples: CAD, DoLa, ITI.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Graph Utilization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Organized data: entities, characteristics, connections.</a:t>
            </a:r>
          </a:p>
          <a:p>
            <a:pPr>
              <a:defRPr sz="1800"/>
            </a:pPr>
            <a:r>
              <a:t>Basis for sophisticated reasoning, data analysis.</a:t>
            </a:r>
          </a:p>
          <a:p>
            <a:pPr>
              <a:defRPr sz="1800"/>
            </a:pPr>
            <a:r>
              <a:t>Enhances faithfulness in dialogue generation.</a:t>
            </a:r>
          </a:p>
          <a:p>
            <a:pPr>
              <a:defRPr sz="1800"/>
            </a:pPr>
            <a:r>
              <a:t>Examples: RHO, FLEEK.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Faithfulness Loss &amp; Supervised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Faithfulness Loss: Metric for output matching ground truth.</a:t>
            </a:r>
          </a:p>
          <a:p>
            <a:pPr>
              <a:defRPr sz="1800"/>
            </a:pPr>
            <a:r>
              <a:t>Examples: THAM Framework, Loss Weighting Method.</a:t>
            </a:r>
          </a:p>
          <a:p>
            <a:pPr>
              <a:defRPr sz="1800"/>
            </a:pPr>
            <a:r>
              <a:t>Supervised Fine-tuning (SFT): Align LLMs with labeled data.</a:t>
            </a:r>
          </a:p>
          <a:p>
            <a:pPr>
              <a:defRPr sz="1800"/>
            </a:pPr>
            <a:r>
              <a:t>Examples: HAR, R-Tuning, BEINFO.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Hallucination Detection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Evaluate detection and mitigation methods.</a:t>
            </a:r>
          </a:p>
          <a:p>
            <a:pPr>
              <a:defRPr sz="1800"/>
            </a:pPr>
            <a:r>
              <a:t>Provide truthful and factually wrong responses.</a:t>
            </a:r>
          </a:p>
          <a:p>
            <a:pPr>
              <a:defRPr sz="1800"/>
            </a:pPr>
            <a:r>
              <a:t>Backbone for quantitative exploration.</a:t>
            </a:r>
          </a:p>
          <a:p>
            <a:pPr>
              <a:defRPr sz="1800"/>
            </a:pPr>
            <a:r>
              <a:t>Focus on fact-conflicting hallucinations.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ReFact: A Complex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1001 questions from AskScience subreddit.</a:t>
            </a:r>
          </a:p>
          <a:p>
            <a:pPr>
              <a:defRPr sz="1800"/>
            </a:pPr>
            <a:r>
              <a:t>Hidden fake facts via altered sentences or keyphrases.</a:t>
            </a:r>
          </a:p>
          <a:p>
            <a:pPr>
              <a:defRPr sz="1800"/>
            </a:pPr>
            <a:r>
              <a:t>Modified answers remain plausible-sounding.</a:t>
            </a:r>
          </a:p>
          <a:p>
            <a:pPr>
              <a:defRPr sz="1800"/>
            </a:pPr>
            <a:r>
              <a:t>Annotated by humans for high quality.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HaluEval &amp; TruthfulQA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HaluEval: 10,000 QA samples, LLM-generated fake answers.</a:t>
            </a:r>
          </a:p>
          <a:p>
            <a:pPr>
              <a:defRPr sz="1800"/>
            </a:pPr>
            <a:r>
              <a:t>TruthfulQA: 817 human-designed questions.</a:t>
            </a:r>
          </a:p>
          <a:p>
            <a:pPr>
              <a:defRPr sz="1800"/>
            </a:pPr>
            <a:r>
              <a:t>Designed to cause imitative falsehoods.</a:t>
            </a:r>
          </a:p>
          <a:p>
            <a:pPr>
              <a:defRPr sz="1800"/>
            </a:pPr>
            <a:r>
              <a:t>Both focus on factual inconsistency.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Fine-Grained Hallucination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Identify hallucinatory spans within input text.</a:t>
            </a:r>
          </a:p>
          <a:p>
            <a:pPr>
              <a:defRPr sz="1800"/>
            </a:pPr>
            <a:r>
              <a:t>Underexplored area, crucial for precision.</a:t>
            </a:r>
          </a:p>
          <a:p>
            <a:pPr>
              <a:defRPr sz="1800"/>
            </a:pPr>
            <a:r>
              <a:t>Token-level detection, sequential labeling.</a:t>
            </a:r>
          </a:p>
          <a:p>
            <a:pPr>
              <a:defRPr sz="1800"/>
            </a:pPr>
            <a:r>
              <a:t>Can use tagging schemes (IO, BIO, BIOES).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Current methods lack consistent generalization.</a:t>
            </a:r>
          </a:p>
          <a:p>
            <a:pPr>
              <a:defRPr sz="1800"/>
            </a:pPr>
            <a:r>
              <a:t>Computational costs, data quality issues persist.</a:t>
            </a:r>
          </a:p>
          <a:p>
            <a:pPr>
              <a:defRPr sz="1800"/>
            </a:pPr>
            <a:r>
              <a:t>Future: Hybrid models, unsupervised learning.</a:t>
            </a:r>
          </a:p>
          <a:p>
            <a:pPr>
              <a:defRPr sz="1800"/>
            </a:pPr>
            <a:r>
              <a:t>Ethical considerations, built-in safety features.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Towards Trustworthy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Collective goal: Coherent, contextually relevant output.</a:t>
            </a:r>
          </a:p>
          <a:p>
            <a:pPr>
              <a:defRPr sz="1800"/>
            </a:pPr>
            <a:r>
              <a:t>Heightened awareness and mitigation of hallucinations.</a:t>
            </a:r>
          </a:p>
          <a:p>
            <a:pPr>
              <a:defRPr sz="1800"/>
            </a:pPr>
            <a:r>
              <a:t>Collaboration: Researchers, professionals, ethicists.</a:t>
            </a:r>
          </a:p>
          <a:p>
            <a:pPr>
              <a:defRPr sz="1800"/>
            </a:pPr>
            <a:r>
              <a:t>Fostering trust and reliability in language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